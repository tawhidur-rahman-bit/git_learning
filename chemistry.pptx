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9" r:id="rId4"/>
    <p:sldId id="260" r:id="rId5"/>
    <p:sldId id="261" r:id="rId6"/>
    <p:sldId id="262" r:id="rId7"/>
    <p:sldId id="263" r:id="rId8"/>
    <p:sldId id="264" r:id="rId9"/>
    <p:sldId id="265" r:id="rId10"/>
    <p:sldId id="266" r:id="rId11"/>
    <p:sldId id="287" r:id="rId12"/>
    <p:sldId id="267" r:id="rId13"/>
    <p:sldId id="268" r:id="rId14"/>
    <p:sldId id="269" r:id="rId15"/>
    <p:sldId id="270" r:id="rId16"/>
    <p:sldId id="271" r:id="rId17"/>
    <p:sldId id="272" r:id="rId18"/>
    <p:sldId id="273" r:id="rId19"/>
    <p:sldId id="274" r:id="rId20"/>
    <p:sldId id="282" r:id="rId21"/>
    <p:sldId id="275" r:id="rId22"/>
    <p:sldId id="276" r:id="rId23"/>
    <p:sldId id="277" r:id="rId24"/>
    <p:sldId id="281" r:id="rId25"/>
    <p:sldId id="278" r:id="rId26"/>
    <p:sldId id="279" r:id="rId27"/>
    <p:sldId id="284" r:id="rId28"/>
    <p:sldId id="285" r:id="rId29"/>
    <p:sldId id="286"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735" autoAdjust="0"/>
    <p:restoredTop sz="94660"/>
  </p:normalViewPr>
  <p:slideViewPr>
    <p:cSldViewPr>
      <p:cViewPr varScale="1">
        <p:scale>
          <a:sx n="110" d="100"/>
          <a:sy n="110" d="100"/>
        </p:scale>
        <p:origin x="-1644" y="-17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1828800" y="3159760"/>
            <a:ext cx="4572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777240" y="1219200"/>
            <a:ext cx="7543800" cy="2152650"/>
          </a:xfrm>
        </p:spPr>
        <p:txBody>
          <a:bodyPr>
            <a:noAutofit/>
          </a:bodyPr>
          <a:lstStyle>
            <a:lvl1pPr>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133600" y="3375491"/>
            <a:ext cx="61722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Date Placeholder 14"/>
          <p:cNvSpPr>
            <a:spLocks noGrp="1"/>
          </p:cNvSpPr>
          <p:nvPr>
            <p:ph type="dt" sz="half" idx="10"/>
          </p:nvPr>
        </p:nvSpPr>
        <p:spPr/>
        <p:txBody>
          <a:bodyPr/>
          <a:lstStyle/>
          <a:p>
            <a:fld id="{1B414EAB-457B-4AD3-90DB-2E77AC63E170}" type="datetimeFigureOut">
              <a:rPr lang="en-US" smtClean="0"/>
              <a:t>7/26/2025</a:t>
            </a:fld>
            <a:endParaRPr lang="en-US"/>
          </a:p>
        </p:txBody>
      </p:sp>
      <p:sp>
        <p:nvSpPr>
          <p:cNvPr id="16" name="Slide Number Placeholder 15"/>
          <p:cNvSpPr>
            <a:spLocks noGrp="1"/>
          </p:cNvSpPr>
          <p:nvPr>
            <p:ph type="sldNum" sz="quarter" idx="11"/>
          </p:nvPr>
        </p:nvSpPr>
        <p:spPr/>
        <p:txBody>
          <a:bodyPr/>
          <a:lstStyle/>
          <a:p>
            <a:fld id="{B90CDB79-87C0-4997-BFD7-E0D7BEE3FF92}"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4" name="Date Placeholder 13"/>
          <p:cNvSpPr>
            <a:spLocks noGrp="1"/>
          </p:cNvSpPr>
          <p:nvPr>
            <p:ph type="dt" sz="half" idx="10"/>
          </p:nvPr>
        </p:nvSpPr>
        <p:spPr/>
        <p:txBody>
          <a:bodyPr/>
          <a:lstStyle/>
          <a:p>
            <a:fld id="{1B414EAB-457B-4AD3-90DB-2E77AC63E170}" type="datetimeFigureOut">
              <a:rPr lang="en-US" smtClean="0"/>
              <a:t>7/26/2025</a:t>
            </a:fld>
            <a:endParaRPr lang="en-US"/>
          </a:p>
        </p:txBody>
      </p:sp>
      <p:sp>
        <p:nvSpPr>
          <p:cNvPr id="15" name="Slide Number Placeholder 14"/>
          <p:cNvSpPr>
            <a:spLocks noGrp="1"/>
          </p:cNvSpPr>
          <p:nvPr>
            <p:ph type="sldNum" sz="quarter" idx="11"/>
          </p:nvPr>
        </p:nvSpPr>
        <p:spPr/>
        <p:txBody>
          <a:bodyPr/>
          <a:lstStyle/>
          <a:p>
            <a:fld id="{B90CDB79-87C0-4997-BFD7-E0D7BEE3FF92}"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4267200" y="4074497"/>
            <a:ext cx="4572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4572000" y="4267368"/>
            <a:ext cx="37338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Date Placeholder 11"/>
          <p:cNvSpPr>
            <a:spLocks noGrp="1"/>
          </p:cNvSpPr>
          <p:nvPr>
            <p:ph type="dt" sz="half" idx="10"/>
          </p:nvPr>
        </p:nvSpPr>
        <p:spPr/>
        <p:txBody>
          <a:bodyPr/>
          <a:lstStyle/>
          <a:p>
            <a:fld id="{1B414EAB-457B-4AD3-90DB-2E77AC63E170}" type="datetimeFigureOut">
              <a:rPr lang="en-US" smtClean="0"/>
              <a:t>7/26/2025</a:t>
            </a:fld>
            <a:endParaRPr lang="en-US"/>
          </a:p>
        </p:txBody>
      </p:sp>
      <p:sp>
        <p:nvSpPr>
          <p:cNvPr id="13" name="Slide Number Placeholder 12"/>
          <p:cNvSpPr>
            <a:spLocks noGrp="1"/>
          </p:cNvSpPr>
          <p:nvPr>
            <p:ph type="sldNum" sz="quarter" idx="11"/>
          </p:nvPr>
        </p:nvSpPr>
        <p:spPr/>
        <p:txBody>
          <a:bodyPr/>
          <a:lstStyle/>
          <a:p>
            <a:fld id="{B90CDB79-87C0-4997-BFD7-E0D7BEE3FF92}"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
        <p:nvSpPr>
          <p:cNvPr id="4" name="Title 3"/>
          <p:cNvSpPr>
            <a:spLocks noGrp="1"/>
          </p:cNvSpPr>
          <p:nvPr>
            <p:ph type="title"/>
          </p:nvPr>
        </p:nvSpPr>
        <p:spPr>
          <a:xfrm>
            <a:off x="2286000" y="1905000"/>
            <a:ext cx="603504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1B414EAB-457B-4AD3-90DB-2E77AC63E170}" type="datetimeFigureOut">
              <a:rPr lang="en-US" smtClean="0"/>
              <a:t>7/26/2025</a:t>
            </a:fld>
            <a:endParaRPr lang="en-US"/>
          </a:p>
        </p:txBody>
      </p:sp>
      <p:sp>
        <p:nvSpPr>
          <p:cNvPr id="9" name="Slide Number Placeholder 8"/>
          <p:cNvSpPr>
            <a:spLocks noGrp="1"/>
          </p:cNvSpPr>
          <p:nvPr>
            <p:ph type="sldNum" sz="quarter" idx="11"/>
          </p:nvPr>
        </p:nvSpPr>
        <p:spPr/>
        <p:txBody>
          <a:bodyPr/>
          <a:lstStyle/>
          <a:p>
            <a:fld id="{B90CDB79-87C0-4997-BFD7-E0D7BEE3FF92}"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5" name="Content Placeholder 4"/>
          <p:cNvSpPr>
            <a:spLocks noGrp="1"/>
          </p:cNvSpPr>
          <p:nvPr>
            <p:ph sz="quarter" idx="13"/>
          </p:nvPr>
        </p:nvSpPr>
        <p:spPr>
          <a:xfrm>
            <a:off x="1344168" y="658368"/>
            <a:ext cx="3273552" cy="3429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6"/>
          <p:cNvSpPr>
            <a:spLocks noGrp="1"/>
          </p:cNvSpPr>
          <p:nvPr>
            <p:ph sz="quarter" idx="14"/>
          </p:nvPr>
        </p:nvSpPr>
        <p:spPr>
          <a:xfrm>
            <a:off x="5029200" y="658368"/>
            <a:ext cx="3273552" cy="3432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4112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44168" y="1371600"/>
            <a:ext cx="32766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2920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29200" y="1371600"/>
            <a:ext cx="3273552"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Box 12"/>
          <p:cNvSpPr txBox="1"/>
          <p:nvPr/>
        </p:nvSpPr>
        <p:spPr>
          <a:xfrm>
            <a:off x="105664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478028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14" name="Date Placeholder 13"/>
          <p:cNvSpPr>
            <a:spLocks noGrp="1"/>
          </p:cNvSpPr>
          <p:nvPr>
            <p:ph type="dt" sz="half" idx="10"/>
          </p:nvPr>
        </p:nvSpPr>
        <p:spPr/>
        <p:txBody>
          <a:bodyPr/>
          <a:lstStyle/>
          <a:p>
            <a:fld id="{1B414EAB-457B-4AD3-90DB-2E77AC63E170}" type="datetimeFigureOut">
              <a:rPr lang="en-US" smtClean="0"/>
              <a:t>7/26/2025</a:t>
            </a:fld>
            <a:endParaRPr lang="en-US"/>
          </a:p>
        </p:txBody>
      </p:sp>
      <p:sp>
        <p:nvSpPr>
          <p:cNvPr id="15" name="Slide Number Placeholder 14"/>
          <p:cNvSpPr>
            <a:spLocks noGrp="1"/>
          </p:cNvSpPr>
          <p:nvPr>
            <p:ph type="sldNum" sz="quarter" idx="11"/>
          </p:nvPr>
        </p:nvSpPr>
        <p:spPr/>
        <p:txBody>
          <a:bodyPr/>
          <a:lstStyle/>
          <a:p>
            <a:fld id="{B90CDB79-87C0-4997-BFD7-E0D7BEE3FF92}"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7" name="Date Placeholder 6"/>
          <p:cNvSpPr>
            <a:spLocks noGrp="1"/>
          </p:cNvSpPr>
          <p:nvPr>
            <p:ph type="dt" sz="half" idx="10"/>
          </p:nvPr>
        </p:nvSpPr>
        <p:spPr/>
        <p:txBody>
          <a:bodyPr/>
          <a:lstStyle/>
          <a:p>
            <a:fld id="{1B414EAB-457B-4AD3-90DB-2E77AC63E170}" type="datetimeFigureOut">
              <a:rPr lang="en-US" smtClean="0"/>
              <a:t>7/26/2025</a:t>
            </a:fld>
            <a:endParaRPr lang="en-US"/>
          </a:p>
        </p:txBody>
      </p:sp>
      <p:sp>
        <p:nvSpPr>
          <p:cNvPr id="8" name="Slide Number Placeholder 7"/>
          <p:cNvSpPr>
            <a:spLocks noGrp="1"/>
          </p:cNvSpPr>
          <p:nvPr>
            <p:ph type="sldNum" sz="quarter" idx="11"/>
          </p:nvPr>
        </p:nvSpPr>
        <p:spPr/>
        <p:txBody>
          <a:bodyPr/>
          <a:lstStyle/>
          <a:p>
            <a:fld id="{B90CDB79-87C0-4997-BFD7-E0D7BEE3FF92}"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B414EAB-457B-4AD3-90DB-2E77AC63E170}" type="datetimeFigureOut">
              <a:rPr lang="en-US" smtClean="0"/>
              <a:t>7/26/2025</a:t>
            </a:fld>
            <a:endParaRPr lang="en-US"/>
          </a:p>
        </p:txBody>
      </p:sp>
      <p:sp>
        <p:nvSpPr>
          <p:cNvPr id="6" name="Slide Number Placeholder 5"/>
          <p:cNvSpPr>
            <a:spLocks noGrp="1"/>
          </p:cNvSpPr>
          <p:nvPr>
            <p:ph type="sldNum" sz="quarter" idx="11"/>
          </p:nvPr>
        </p:nvSpPr>
        <p:spPr/>
        <p:txBody>
          <a:bodyPr/>
          <a:lstStyle/>
          <a:p>
            <a:fld id="{B90CDB79-87C0-4997-BFD7-E0D7BEE3FF92}" type="slidenum">
              <a:rPr lang="en-US" smtClean="0"/>
              <a:t>‹#›</a:t>
            </a:fld>
            <a:endParaRPr lang="en-US"/>
          </a:p>
        </p:txBody>
      </p:sp>
      <p:sp>
        <p:nvSpPr>
          <p:cNvPr id="7" name="Footer Placeholder 6"/>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5328920" y="1774588"/>
            <a:ext cx="4572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838200" y="685801"/>
            <a:ext cx="43434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15000" y="685801"/>
            <a:ext cx="25908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5" name="Date Placeholder 14"/>
          <p:cNvSpPr>
            <a:spLocks noGrp="1"/>
          </p:cNvSpPr>
          <p:nvPr>
            <p:ph type="dt" sz="half" idx="10"/>
          </p:nvPr>
        </p:nvSpPr>
        <p:spPr/>
        <p:txBody>
          <a:bodyPr/>
          <a:lstStyle/>
          <a:p>
            <a:fld id="{1B414EAB-457B-4AD3-90DB-2E77AC63E170}" type="datetimeFigureOut">
              <a:rPr lang="en-US" smtClean="0"/>
              <a:t>7/26/2025</a:t>
            </a:fld>
            <a:endParaRPr lang="en-US"/>
          </a:p>
        </p:txBody>
      </p:sp>
      <p:sp>
        <p:nvSpPr>
          <p:cNvPr id="16" name="Slide Number Placeholder 15"/>
          <p:cNvSpPr>
            <a:spLocks noGrp="1"/>
          </p:cNvSpPr>
          <p:nvPr>
            <p:ph type="sldNum" sz="quarter" idx="11"/>
          </p:nvPr>
        </p:nvSpPr>
        <p:spPr/>
        <p:txBody>
          <a:bodyPr/>
          <a:lstStyle/>
          <a:p>
            <a:fld id="{B90CDB79-87C0-4997-BFD7-E0D7BEE3FF92}"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219200" y="612775"/>
            <a:ext cx="67056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2743200" y="3453047"/>
            <a:ext cx="50292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Box 8"/>
          <p:cNvSpPr txBox="1"/>
          <p:nvPr/>
        </p:nvSpPr>
        <p:spPr>
          <a:xfrm>
            <a:off x="2435352" y="3331464"/>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3" name="Date Placeholder 12"/>
          <p:cNvSpPr>
            <a:spLocks noGrp="1"/>
          </p:cNvSpPr>
          <p:nvPr>
            <p:ph type="dt" sz="half" idx="10"/>
          </p:nvPr>
        </p:nvSpPr>
        <p:spPr/>
        <p:txBody>
          <a:bodyPr/>
          <a:lstStyle/>
          <a:p>
            <a:fld id="{1B414EAB-457B-4AD3-90DB-2E77AC63E170}" type="datetimeFigureOut">
              <a:rPr lang="en-US" smtClean="0"/>
              <a:t>7/26/2025</a:t>
            </a:fld>
            <a:endParaRPr lang="en-US"/>
          </a:p>
        </p:txBody>
      </p:sp>
      <p:sp>
        <p:nvSpPr>
          <p:cNvPr id="14" name="Slide Number Placeholder 13"/>
          <p:cNvSpPr>
            <a:spLocks noGrp="1"/>
          </p:cNvSpPr>
          <p:nvPr>
            <p:ph type="sldNum" sz="quarter" idx="11"/>
          </p:nvPr>
        </p:nvSpPr>
        <p:spPr/>
        <p:txBody>
          <a:bodyPr/>
          <a:lstStyle/>
          <a:p>
            <a:fld id="{B90CDB79-87C0-4997-BFD7-E0D7BEE3FF92}"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133600" y="685801"/>
            <a:ext cx="5791200" cy="35051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B414EAB-457B-4AD3-90DB-2E77AC63E170}"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0CDB79-87C0-4997-BFD7-E0D7BEE3FF9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9600" y="609601"/>
            <a:ext cx="2133600" cy="5181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895600" y="685801"/>
            <a:ext cx="5029200" cy="45720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B414EAB-457B-4AD3-90DB-2E77AC63E170}" type="datetimeFigureOut">
              <a:rPr lang="en-US" smtClean="0"/>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0CDB79-87C0-4997-BFD7-E0D7BEE3FF9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373221" y="1038440"/>
            <a:ext cx="724062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274211" y="1165875"/>
            <a:ext cx="5538472" cy="4480459"/>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3277955" y="116854"/>
            <a:ext cx="6479362"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77240" y="4876800"/>
            <a:ext cx="7543800" cy="9144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2133600" y="685801"/>
            <a:ext cx="6096000" cy="3657599"/>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54738"/>
            <a:ext cx="21336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1B414EAB-457B-4AD3-90DB-2E77AC63E170}" type="datetimeFigureOut">
              <a:rPr lang="en-US" smtClean="0"/>
              <a:t>7/26/2025</a:t>
            </a:fld>
            <a:endParaRPr lang="en-US"/>
          </a:p>
        </p:txBody>
      </p:sp>
      <p:sp>
        <p:nvSpPr>
          <p:cNvPr id="5" name="Footer Placeholder 4"/>
          <p:cNvSpPr>
            <a:spLocks noGrp="1"/>
          </p:cNvSpPr>
          <p:nvPr>
            <p:ph type="ftr" sz="quarter" idx="3"/>
          </p:nvPr>
        </p:nvSpPr>
        <p:spPr>
          <a:xfrm>
            <a:off x="822960" y="6154738"/>
            <a:ext cx="4572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US"/>
          </a:p>
        </p:txBody>
      </p:sp>
      <p:sp>
        <p:nvSpPr>
          <p:cNvPr id="6" name="Slide Number Placeholder 5"/>
          <p:cNvSpPr>
            <a:spLocks noGrp="1"/>
          </p:cNvSpPr>
          <p:nvPr>
            <p:ph type="sldNum" sz="quarter" idx="4"/>
          </p:nvPr>
        </p:nvSpPr>
        <p:spPr>
          <a:xfrm>
            <a:off x="822960" y="5842000"/>
            <a:ext cx="21336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B90CDB79-87C0-4997-BFD7-E0D7BEE3FF92}"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f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byjus.com/chemistry/van-der-waals-forces/"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gi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995" y="-59391"/>
            <a:ext cx="9144000" cy="6858000"/>
          </a:xfrm>
          <a:prstGeom prst="rect">
            <a:avLst/>
          </a:prstGeom>
        </p:spPr>
      </p:pic>
      <p:sp>
        <p:nvSpPr>
          <p:cNvPr id="3" name="TextBox 2"/>
          <p:cNvSpPr txBox="1"/>
          <p:nvPr/>
        </p:nvSpPr>
        <p:spPr>
          <a:xfrm>
            <a:off x="1752600" y="1066800"/>
            <a:ext cx="184731" cy="369332"/>
          </a:xfrm>
          <a:prstGeom prst="rect">
            <a:avLst/>
          </a:prstGeom>
          <a:noFill/>
        </p:spPr>
        <p:txBody>
          <a:bodyPr wrap="none" rtlCol="0">
            <a:spAutoFit/>
          </a:bodyPr>
          <a:lstStyle/>
          <a:p>
            <a:endParaRPr lang="en-US" dirty="0"/>
          </a:p>
        </p:txBody>
      </p:sp>
      <p:sp>
        <p:nvSpPr>
          <p:cNvPr id="4" name="Rectangle 3"/>
          <p:cNvSpPr/>
          <p:nvPr/>
        </p:nvSpPr>
        <p:spPr>
          <a:xfrm>
            <a:off x="743021" y="835967"/>
            <a:ext cx="8229600" cy="830997"/>
          </a:xfrm>
          <a:prstGeom prst="rect">
            <a:avLst/>
          </a:prstGeom>
        </p:spPr>
        <p:txBody>
          <a:bodyPr wrap="square">
            <a:spAutoFit/>
          </a:bodyPr>
          <a:lstStyle/>
          <a:p>
            <a:r>
              <a:rPr lang="en-US" sz="2400" b="1" dirty="0">
                <a:solidFill>
                  <a:srgbClr val="FFFF00"/>
                </a:solidFill>
              </a:rPr>
              <a:t>"Exploring Molecular Interactions: Hydrogen Bonding, Dipole Moments, and van der Waals </a:t>
            </a:r>
            <a:r>
              <a:rPr lang="en-US" sz="2400" b="1" dirty="0" smtClean="0">
                <a:solidFill>
                  <a:srgbClr val="FFFF00"/>
                </a:solidFill>
              </a:rPr>
              <a:t>Forces”.</a:t>
            </a:r>
            <a:endParaRPr lang="en-US" sz="2400" b="1" dirty="0">
              <a:solidFill>
                <a:srgbClr val="FFFF00"/>
              </a:solidFill>
            </a:endParaRPr>
          </a:p>
        </p:txBody>
      </p:sp>
      <p:sp>
        <p:nvSpPr>
          <p:cNvPr id="5" name="Rectangle 4"/>
          <p:cNvSpPr/>
          <p:nvPr/>
        </p:nvSpPr>
        <p:spPr>
          <a:xfrm>
            <a:off x="1721285" y="2376100"/>
            <a:ext cx="3406382" cy="646331"/>
          </a:xfrm>
          <a:prstGeom prst="rect">
            <a:avLst/>
          </a:prstGeom>
        </p:spPr>
        <p:txBody>
          <a:bodyPr wrap="none">
            <a:spAutoFit/>
          </a:bodyPr>
          <a:lstStyle/>
          <a:p>
            <a:r>
              <a:rPr lang="en-US" b="1" dirty="0">
                <a:solidFill>
                  <a:srgbClr val="00B0F0"/>
                </a:solidFill>
              </a:rPr>
              <a:t>Presented by: </a:t>
            </a:r>
            <a:r>
              <a:rPr lang="en-US" b="1" dirty="0" err="1"/>
              <a:t>Tawhid</a:t>
            </a:r>
            <a:r>
              <a:rPr lang="en-US" b="1" dirty="0"/>
              <a:t> </a:t>
            </a:r>
            <a:r>
              <a:rPr lang="en-US" b="1" dirty="0" err="1" smtClean="0"/>
              <a:t>Rahman</a:t>
            </a:r>
            <a:endParaRPr lang="en-US" b="1" dirty="0" smtClean="0"/>
          </a:p>
          <a:p>
            <a:r>
              <a:rPr lang="en-US" b="1" dirty="0"/>
              <a:t> </a:t>
            </a:r>
            <a:r>
              <a:rPr lang="en-US" b="1" dirty="0" smtClean="0"/>
              <a:t>                  </a:t>
            </a:r>
          </a:p>
        </p:txBody>
      </p:sp>
      <p:sp>
        <p:nvSpPr>
          <p:cNvPr id="6" name="Rectangle 5"/>
          <p:cNvSpPr/>
          <p:nvPr/>
        </p:nvSpPr>
        <p:spPr>
          <a:xfrm>
            <a:off x="3172827" y="2837765"/>
            <a:ext cx="4572000" cy="369332"/>
          </a:xfrm>
          <a:prstGeom prst="rect">
            <a:avLst/>
          </a:prstGeom>
        </p:spPr>
        <p:txBody>
          <a:bodyPr>
            <a:spAutoFit/>
          </a:bodyPr>
          <a:lstStyle/>
          <a:p>
            <a:r>
              <a:rPr lang="en-US" b="1" dirty="0" err="1" smtClean="0"/>
              <a:t>Bsc</a:t>
            </a:r>
            <a:r>
              <a:rPr lang="en-US" b="1" dirty="0" smtClean="0"/>
              <a:t>(</a:t>
            </a:r>
            <a:r>
              <a:rPr lang="en-US" b="1" dirty="0" err="1" smtClean="0"/>
              <a:t>Hons</a:t>
            </a:r>
            <a:r>
              <a:rPr lang="en-US" b="1" dirty="0" smtClean="0"/>
              <a:t>),Department of CSE</a:t>
            </a:r>
            <a:endParaRPr lang="en-US" b="1" dirty="0"/>
          </a:p>
        </p:txBody>
      </p:sp>
      <p:sp>
        <p:nvSpPr>
          <p:cNvPr id="7" name="TextBox 6"/>
          <p:cNvSpPr txBox="1"/>
          <p:nvPr/>
        </p:nvSpPr>
        <p:spPr>
          <a:xfrm>
            <a:off x="2667000" y="2514600"/>
            <a:ext cx="184731" cy="369332"/>
          </a:xfrm>
          <a:prstGeom prst="rect">
            <a:avLst/>
          </a:prstGeom>
          <a:noFill/>
        </p:spPr>
        <p:txBody>
          <a:bodyPr wrap="none" rtlCol="0">
            <a:spAutoFit/>
          </a:bodyPr>
          <a:lstStyle/>
          <a:p>
            <a:endParaRPr lang="en-US" dirty="0"/>
          </a:p>
        </p:txBody>
      </p:sp>
      <p:sp>
        <p:nvSpPr>
          <p:cNvPr id="8" name="TextBox 7"/>
          <p:cNvSpPr txBox="1"/>
          <p:nvPr/>
        </p:nvSpPr>
        <p:spPr>
          <a:xfrm>
            <a:off x="3172827" y="3207097"/>
            <a:ext cx="5549148" cy="369332"/>
          </a:xfrm>
          <a:prstGeom prst="rect">
            <a:avLst/>
          </a:prstGeom>
          <a:noFill/>
        </p:spPr>
        <p:txBody>
          <a:bodyPr wrap="none" rtlCol="0">
            <a:spAutoFit/>
          </a:bodyPr>
          <a:lstStyle/>
          <a:p>
            <a:r>
              <a:rPr lang="en-US" dirty="0" err="1" smtClean="0"/>
              <a:t>Chandpur</a:t>
            </a:r>
            <a:r>
              <a:rPr lang="en-US" dirty="0" smtClean="0"/>
              <a:t> Science and technology university(CSTU)</a:t>
            </a:r>
            <a:endParaRPr lang="en-US" dirty="0"/>
          </a:p>
        </p:txBody>
      </p:sp>
      <p:sp>
        <p:nvSpPr>
          <p:cNvPr id="9" name="TextBox 8"/>
          <p:cNvSpPr txBox="1"/>
          <p:nvPr/>
        </p:nvSpPr>
        <p:spPr>
          <a:xfrm>
            <a:off x="2398031" y="3978050"/>
            <a:ext cx="3549370" cy="369332"/>
          </a:xfrm>
          <a:prstGeom prst="rect">
            <a:avLst/>
          </a:prstGeom>
          <a:noFill/>
        </p:spPr>
        <p:txBody>
          <a:bodyPr wrap="none" rtlCol="0">
            <a:spAutoFit/>
          </a:bodyPr>
          <a:lstStyle/>
          <a:p>
            <a:r>
              <a:rPr lang="en-US" b="1" dirty="0" smtClean="0">
                <a:solidFill>
                  <a:srgbClr val="FFFF00"/>
                </a:solidFill>
              </a:rPr>
              <a:t>Course: </a:t>
            </a:r>
            <a:r>
              <a:rPr lang="en-US" b="1" dirty="0" smtClean="0">
                <a:solidFill>
                  <a:srgbClr val="FFC000"/>
                </a:solidFill>
              </a:rPr>
              <a:t>CHEM 1221(Chemistry)</a:t>
            </a:r>
            <a:endParaRPr lang="en-US" b="1" dirty="0">
              <a:solidFill>
                <a:srgbClr val="FFC000"/>
              </a:solidFill>
            </a:endParaRPr>
          </a:p>
        </p:txBody>
      </p:sp>
      <p:sp>
        <p:nvSpPr>
          <p:cNvPr id="10" name="TextBox 9"/>
          <p:cNvSpPr txBox="1"/>
          <p:nvPr/>
        </p:nvSpPr>
        <p:spPr>
          <a:xfrm>
            <a:off x="2724649" y="4495800"/>
            <a:ext cx="2133172" cy="369332"/>
          </a:xfrm>
          <a:prstGeom prst="rect">
            <a:avLst/>
          </a:prstGeom>
          <a:noFill/>
        </p:spPr>
        <p:txBody>
          <a:bodyPr wrap="square" rtlCol="0">
            <a:spAutoFit/>
          </a:bodyPr>
          <a:lstStyle/>
          <a:p>
            <a:r>
              <a:rPr lang="en-US" dirty="0" smtClean="0">
                <a:solidFill>
                  <a:srgbClr val="00B0F0"/>
                </a:solidFill>
              </a:rPr>
              <a:t>Date</a:t>
            </a:r>
            <a:r>
              <a:rPr lang="en-US" dirty="0" smtClean="0"/>
              <a:t>: July 27,2025</a:t>
            </a:r>
            <a:endParaRPr lang="en-US" dirty="0"/>
          </a:p>
        </p:txBody>
      </p:sp>
      <p:sp>
        <p:nvSpPr>
          <p:cNvPr id="11" name="Rectangle 10"/>
          <p:cNvSpPr/>
          <p:nvPr/>
        </p:nvSpPr>
        <p:spPr>
          <a:xfrm>
            <a:off x="2851731" y="3614468"/>
            <a:ext cx="1715534" cy="369332"/>
          </a:xfrm>
          <a:prstGeom prst="rect">
            <a:avLst/>
          </a:prstGeom>
        </p:spPr>
        <p:txBody>
          <a:bodyPr wrap="none">
            <a:spAutoFit/>
          </a:bodyPr>
          <a:lstStyle/>
          <a:p>
            <a:r>
              <a:rPr lang="en-US" b="1" dirty="0">
                <a:solidFill>
                  <a:srgbClr val="00B0F0"/>
                </a:solidFill>
              </a:rPr>
              <a:t>ID:</a:t>
            </a:r>
            <a:r>
              <a:rPr lang="en-US" b="1" dirty="0"/>
              <a:t>B230101025</a:t>
            </a:r>
          </a:p>
        </p:txBody>
      </p:sp>
    </p:spTree>
    <p:extLst>
      <p:ext uri="{BB962C8B-B14F-4D97-AF65-F5344CB8AC3E}">
        <p14:creationId xmlns:p14="http://schemas.microsoft.com/office/powerpoint/2010/main" val="34316892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24200" y="164068"/>
            <a:ext cx="1838965" cy="369332"/>
          </a:xfrm>
          <a:prstGeom prst="rect">
            <a:avLst/>
          </a:prstGeom>
          <a:noFill/>
        </p:spPr>
        <p:txBody>
          <a:bodyPr wrap="none" rtlCol="0">
            <a:spAutoFit/>
          </a:bodyPr>
          <a:lstStyle/>
          <a:p>
            <a:r>
              <a:rPr lang="en-US" u="sng" dirty="0" smtClean="0">
                <a:solidFill>
                  <a:srgbClr val="FFFF00"/>
                </a:solidFill>
              </a:rPr>
              <a:t>Hydrogen Bond</a:t>
            </a:r>
            <a:endParaRPr lang="en-US" u="sng" dirty="0">
              <a:solidFill>
                <a:srgbClr val="FFFF00"/>
              </a:solidFill>
            </a:endParaRPr>
          </a:p>
        </p:txBody>
      </p:sp>
      <p:sp>
        <p:nvSpPr>
          <p:cNvPr id="4" name="Rectangle 3"/>
          <p:cNvSpPr/>
          <p:nvPr/>
        </p:nvSpPr>
        <p:spPr>
          <a:xfrm>
            <a:off x="76200" y="609600"/>
            <a:ext cx="3119765" cy="369332"/>
          </a:xfrm>
          <a:prstGeom prst="rect">
            <a:avLst/>
          </a:prstGeom>
        </p:spPr>
        <p:txBody>
          <a:bodyPr wrap="none">
            <a:spAutoFit/>
          </a:bodyPr>
          <a:lstStyle/>
          <a:p>
            <a:r>
              <a:rPr lang="en-US" dirty="0">
                <a:solidFill>
                  <a:schemeClr val="tx2">
                    <a:lumMod val="75000"/>
                  </a:schemeClr>
                </a:solidFill>
              </a:rPr>
              <a:t>What Is Hydrogen Bonding?</a:t>
            </a:r>
          </a:p>
        </p:txBody>
      </p:sp>
      <p:sp>
        <p:nvSpPr>
          <p:cNvPr id="5" name="Rectangle 4"/>
          <p:cNvSpPr/>
          <p:nvPr/>
        </p:nvSpPr>
        <p:spPr>
          <a:xfrm>
            <a:off x="152400" y="994127"/>
            <a:ext cx="8839200" cy="830997"/>
          </a:xfrm>
          <a:prstGeom prst="rect">
            <a:avLst/>
          </a:prstGeom>
        </p:spPr>
        <p:txBody>
          <a:bodyPr wrap="square">
            <a:spAutoFit/>
          </a:bodyPr>
          <a:lstStyle/>
          <a:p>
            <a:r>
              <a:rPr lang="en-US" sz="1600" b="1" dirty="0"/>
              <a:t>Hydrogen bonding</a:t>
            </a:r>
            <a:r>
              <a:rPr lang="en-US" sz="1600" dirty="0"/>
              <a:t> is a type of </a:t>
            </a:r>
            <a:r>
              <a:rPr lang="en-US" sz="1600" b="1" dirty="0"/>
              <a:t>intermolecular force</a:t>
            </a:r>
            <a:r>
              <a:rPr lang="en-US" sz="1600" dirty="0"/>
              <a:t> that occurs when a hydrogen atom is </a:t>
            </a:r>
            <a:r>
              <a:rPr lang="en-US" sz="1600" b="1" dirty="0"/>
              <a:t>covalently bonded to a highly electronegative atom</a:t>
            </a:r>
            <a:r>
              <a:rPr lang="en-US" sz="1600" dirty="0"/>
              <a:t>—such as </a:t>
            </a:r>
            <a:r>
              <a:rPr lang="en-US" sz="1600" b="1" dirty="0"/>
              <a:t>fluorine (F), oxygen (O), or nitrogen (N)</a:t>
            </a:r>
            <a:r>
              <a:rPr lang="en-US" sz="1600" dirty="0"/>
              <a:t>—and is attracted to another electronegative atom nearby.</a:t>
            </a:r>
          </a:p>
        </p:txBody>
      </p:sp>
      <p:sp>
        <p:nvSpPr>
          <p:cNvPr id="2" name="Rectangle 1"/>
          <p:cNvSpPr/>
          <p:nvPr/>
        </p:nvSpPr>
        <p:spPr>
          <a:xfrm>
            <a:off x="37166" y="1825124"/>
            <a:ext cx="9411634" cy="646331"/>
          </a:xfrm>
          <a:prstGeom prst="rect">
            <a:avLst/>
          </a:prstGeom>
        </p:spPr>
        <p:txBody>
          <a:bodyPr wrap="square">
            <a:spAutoFit/>
          </a:bodyPr>
          <a:lstStyle/>
          <a:p>
            <a:r>
              <a:rPr lang="en-US" dirty="0" smtClean="0"/>
              <a:t> </a:t>
            </a:r>
            <a:r>
              <a:rPr lang="en-US" dirty="0"/>
              <a:t>For example, in water molecules (H</a:t>
            </a:r>
            <a:r>
              <a:rPr lang="en-US" baseline="-25000" dirty="0"/>
              <a:t>2</a:t>
            </a:r>
            <a:r>
              <a:rPr lang="en-US" dirty="0"/>
              <a:t>O), hydrogen is covalently bonded to the more electronegative oxygen atom. </a:t>
            </a:r>
          </a:p>
        </p:txBody>
      </p:sp>
      <p:pic>
        <p:nvPicPr>
          <p:cNvPr id="1026" name="Picture 2" descr="Hydrogen Bonds Make Water Sticky | manoa.hawaii.edu/ExploringOurFluidEar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437751"/>
            <a:ext cx="5029199" cy="36576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371588" y="6304366"/>
            <a:ext cx="2666307" cy="369332"/>
          </a:xfrm>
          <a:prstGeom prst="rect">
            <a:avLst/>
          </a:prstGeom>
        </p:spPr>
        <p:txBody>
          <a:bodyPr wrap="none">
            <a:spAutoFit/>
          </a:bodyPr>
          <a:lstStyle/>
          <a:p>
            <a:r>
              <a:rPr lang="en-US" dirty="0">
                <a:solidFill>
                  <a:srgbClr val="FFFF00"/>
                </a:solidFill>
              </a:rPr>
              <a:t>hydrogen bond of water</a:t>
            </a:r>
          </a:p>
        </p:txBody>
      </p:sp>
      <p:pic>
        <p:nvPicPr>
          <p:cNvPr id="10" name="Picture 4" descr="Chemistry: Hydrogen Bond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8632" y="2471455"/>
            <a:ext cx="3709168" cy="36238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96779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152400"/>
            <a:ext cx="4180953" cy="369332"/>
          </a:xfrm>
          <a:prstGeom prst="rect">
            <a:avLst/>
          </a:prstGeom>
        </p:spPr>
        <p:txBody>
          <a:bodyPr wrap="none">
            <a:spAutoFit/>
          </a:bodyPr>
          <a:lstStyle/>
          <a:p>
            <a:r>
              <a:rPr lang="en-US" u="sng" dirty="0">
                <a:solidFill>
                  <a:srgbClr val="00B0F0"/>
                </a:solidFill>
              </a:rPr>
              <a:t>💡 </a:t>
            </a:r>
            <a:r>
              <a:rPr lang="en-US" b="1" u="sng" dirty="0">
                <a:solidFill>
                  <a:srgbClr val="00B0F0"/>
                </a:solidFill>
              </a:rPr>
              <a:t>Conditions for Hydrogen Bonding</a:t>
            </a:r>
            <a:r>
              <a:rPr lang="en-US" b="1" dirty="0"/>
              <a:t>:</a:t>
            </a:r>
            <a:endParaRPr lang="en-US" dirty="0"/>
          </a:p>
        </p:txBody>
      </p:sp>
      <p:sp>
        <p:nvSpPr>
          <p:cNvPr id="3" name="Rectangle 1"/>
          <p:cNvSpPr>
            <a:spLocks noChangeArrowheads="1"/>
          </p:cNvSpPr>
          <p:nvPr/>
        </p:nvSpPr>
        <p:spPr bwMode="auto">
          <a:xfrm>
            <a:off x="27570" y="521732"/>
            <a:ext cx="865922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800" b="1" i="0" u="none" strike="noStrike" cap="none" normalizeH="0" baseline="0" dirty="0" smtClean="0">
                <a:ln>
                  <a:noFill/>
                </a:ln>
                <a:solidFill>
                  <a:schemeClr val="tx1"/>
                </a:solidFill>
                <a:effectLst/>
                <a:latin typeface="Arial" charset="0"/>
                <a:cs typeface="Arial" charset="0"/>
              </a:rPr>
              <a:t>Presence of H atom</a:t>
            </a:r>
            <a:r>
              <a:rPr kumimoji="0" lang="en-US" sz="1800" b="0" i="0" u="none" strike="noStrike" cap="none" normalizeH="0" baseline="0" dirty="0" smtClean="0">
                <a:ln>
                  <a:noFill/>
                </a:ln>
                <a:solidFill>
                  <a:schemeClr val="tx1"/>
                </a:solidFill>
                <a:effectLst/>
                <a:latin typeface="Arial" charset="0"/>
                <a:cs typeface="Arial" charset="0"/>
              </a:rPr>
              <a:t> bonded to a highly </a:t>
            </a:r>
            <a:r>
              <a:rPr kumimoji="0" lang="en-US" sz="1800" b="1" i="0" u="none" strike="noStrike" cap="none" normalizeH="0" baseline="0" dirty="0" smtClean="0">
                <a:ln>
                  <a:noFill/>
                </a:ln>
                <a:solidFill>
                  <a:schemeClr val="tx1"/>
                </a:solidFill>
                <a:effectLst/>
                <a:latin typeface="Arial" charset="0"/>
                <a:cs typeface="Arial" charset="0"/>
              </a:rPr>
              <a:t>electronegative atom</a:t>
            </a:r>
            <a:r>
              <a:rPr kumimoji="0" lang="en-US" sz="1800" b="0" i="0" u="none" strike="noStrike" cap="none" normalizeH="0" baseline="0" dirty="0" smtClean="0">
                <a:ln>
                  <a:noFill/>
                </a:ln>
                <a:solidFill>
                  <a:schemeClr val="tx1"/>
                </a:solidFill>
                <a:effectLst/>
                <a:latin typeface="Arial" charset="0"/>
                <a:cs typeface="Arial" charset="0"/>
              </a:rPr>
              <a:t> (O, N, or F).</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800" b="1" i="0" u="none" strike="noStrike" cap="none" normalizeH="0" baseline="0" dirty="0" smtClean="0">
                <a:ln>
                  <a:noFill/>
                </a:ln>
                <a:solidFill>
                  <a:schemeClr val="tx1"/>
                </a:solidFill>
                <a:effectLst/>
                <a:latin typeface="Arial" charset="0"/>
                <a:cs typeface="Arial" charset="0"/>
              </a:rPr>
              <a:t>Small size</a:t>
            </a:r>
            <a:r>
              <a:rPr kumimoji="0" lang="en-US" sz="1800" b="0" i="0" u="none" strike="noStrike" cap="none" normalizeH="0" baseline="0" dirty="0" smtClean="0">
                <a:ln>
                  <a:noFill/>
                </a:ln>
                <a:solidFill>
                  <a:schemeClr val="tx1"/>
                </a:solidFill>
                <a:effectLst/>
                <a:latin typeface="Arial" charset="0"/>
                <a:cs typeface="Arial" charset="0"/>
              </a:rPr>
              <a:t> of the electronegative atom (so the bond is directional).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1800" b="1" i="0" u="none" strike="noStrike" cap="none" normalizeH="0" baseline="0" dirty="0" smtClean="0">
                <a:ln>
                  <a:noFill/>
                </a:ln>
                <a:solidFill>
                  <a:schemeClr val="tx1"/>
                </a:solidFill>
                <a:effectLst/>
                <a:latin typeface="Arial" charset="0"/>
                <a:cs typeface="Arial" charset="0"/>
              </a:rPr>
              <a:t>Lone pair</a:t>
            </a:r>
            <a:r>
              <a:rPr kumimoji="0" lang="en-US" sz="1800" b="0" i="0" u="none" strike="noStrike" cap="none" normalizeH="0" baseline="0" dirty="0" smtClean="0">
                <a:ln>
                  <a:noFill/>
                </a:ln>
                <a:solidFill>
                  <a:schemeClr val="tx1"/>
                </a:solidFill>
                <a:effectLst/>
                <a:latin typeface="Arial" charset="0"/>
                <a:cs typeface="Arial" charset="0"/>
              </a:rPr>
              <a:t> on the electronegative atom available for </a:t>
            </a:r>
            <a:r>
              <a:rPr kumimoji="0" lang="en-US" sz="1800" b="0" i="0" u="none" strike="noStrike" cap="none" normalizeH="0" baseline="0" dirty="0" err="1" smtClean="0">
                <a:ln>
                  <a:noFill/>
                </a:ln>
                <a:solidFill>
                  <a:schemeClr val="tx1"/>
                </a:solidFill>
                <a:effectLst/>
                <a:latin typeface="Arial" charset="0"/>
                <a:cs typeface="Arial" charset="0"/>
              </a:rPr>
              <a:t>bondin</a:t>
            </a:r>
            <a:r>
              <a:rPr kumimoji="0" lang="en-US" sz="18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
        <p:nvSpPr>
          <p:cNvPr id="4" name="Rectangle 2"/>
          <p:cNvSpPr>
            <a:spLocks noChangeArrowheads="1"/>
          </p:cNvSpPr>
          <p:nvPr/>
        </p:nvSpPr>
        <p:spPr bwMode="auto">
          <a:xfrm>
            <a:off x="0" y="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4"/>
          <p:cNvSpPr>
            <a:spLocks noChangeArrowheads="1"/>
          </p:cNvSpPr>
          <p:nvPr/>
        </p:nvSpPr>
        <p:spPr bwMode="auto">
          <a:xfrm>
            <a:off x="381000" y="2371635"/>
            <a:ext cx="295465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a:p>
            <a:pPr lvl="6" eaLnBrk="0" fontAlgn="base" hangingPunct="0">
              <a:spcBef>
                <a:spcPct val="0"/>
              </a:spcBef>
              <a:spcAft>
                <a:spcPct val="0"/>
              </a:spcAft>
            </a:pPr>
            <a:endParaRPr kumimoji="0" lang="en-US"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
        <p:nvSpPr>
          <p:cNvPr id="7" name="Rectangle 5"/>
          <p:cNvSpPr>
            <a:spLocks noChangeArrowheads="1"/>
          </p:cNvSpPr>
          <p:nvPr/>
        </p:nvSpPr>
        <p:spPr bwMode="auto">
          <a:xfrm>
            <a:off x="152400" y="15240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8"/>
          <p:cNvSpPr/>
          <p:nvPr/>
        </p:nvSpPr>
        <p:spPr>
          <a:xfrm>
            <a:off x="27570" y="1814394"/>
            <a:ext cx="2715808" cy="369332"/>
          </a:xfrm>
          <a:prstGeom prst="rect">
            <a:avLst/>
          </a:prstGeom>
        </p:spPr>
        <p:txBody>
          <a:bodyPr wrap="none">
            <a:spAutoFit/>
          </a:bodyPr>
          <a:lstStyle/>
          <a:p>
            <a:r>
              <a:rPr lang="en-US" b="1" dirty="0">
                <a:solidFill>
                  <a:srgbClr val="FFFF00"/>
                </a:solidFill>
              </a:rPr>
              <a:t>🧪 Chemical Examples:</a:t>
            </a:r>
          </a:p>
        </p:txBody>
      </p:sp>
      <p:sp>
        <p:nvSpPr>
          <p:cNvPr id="10" name="Rectangle 9"/>
          <p:cNvSpPr/>
          <p:nvPr/>
        </p:nvSpPr>
        <p:spPr>
          <a:xfrm>
            <a:off x="2806435" y="1834265"/>
            <a:ext cx="1508426" cy="369332"/>
          </a:xfrm>
          <a:prstGeom prst="rect">
            <a:avLst/>
          </a:prstGeom>
        </p:spPr>
        <p:txBody>
          <a:bodyPr wrap="none">
            <a:spAutoFit/>
          </a:bodyPr>
          <a:lstStyle/>
          <a:p>
            <a:r>
              <a:rPr lang="en-US" dirty="0"/>
              <a:t>Water (H₂O</a:t>
            </a:r>
            <a:r>
              <a:rPr lang="en-US" dirty="0" smtClean="0"/>
              <a:t>);</a:t>
            </a:r>
            <a:endParaRPr lang="en-US" dirty="0"/>
          </a:p>
        </p:txBody>
      </p:sp>
      <p:sp>
        <p:nvSpPr>
          <p:cNvPr id="11" name="Rectangle 10"/>
          <p:cNvSpPr/>
          <p:nvPr/>
        </p:nvSpPr>
        <p:spPr>
          <a:xfrm>
            <a:off x="4257153" y="1854136"/>
            <a:ext cx="1943161" cy="369332"/>
          </a:xfrm>
          <a:prstGeom prst="rect">
            <a:avLst/>
          </a:prstGeom>
        </p:spPr>
        <p:txBody>
          <a:bodyPr wrap="none">
            <a:spAutoFit/>
          </a:bodyPr>
          <a:lstStyle/>
          <a:p>
            <a:r>
              <a:rPr lang="en-US" dirty="0"/>
              <a:t>Ammonia (NH₃</a:t>
            </a:r>
            <a:r>
              <a:rPr lang="en-US" dirty="0" smtClean="0"/>
              <a:t>);</a:t>
            </a:r>
            <a:endParaRPr lang="en-US" dirty="0"/>
          </a:p>
        </p:txBody>
      </p:sp>
      <p:sp>
        <p:nvSpPr>
          <p:cNvPr id="12" name="Rectangle 11"/>
          <p:cNvSpPr/>
          <p:nvPr/>
        </p:nvSpPr>
        <p:spPr>
          <a:xfrm>
            <a:off x="6078713" y="1854136"/>
            <a:ext cx="2608086" cy="369332"/>
          </a:xfrm>
          <a:prstGeom prst="rect">
            <a:avLst/>
          </a:prstGeom>
        </p:spPr>
        <p:txBody>
          <a:bodyPr wrap="none">
            <a:spAutoFit/>
          </a:bodyPr>
          <a:lstStyle/>
          <a:p>
            <a:r>
              <a:rPr lang="en-US" dirty="0"/>
              <a:t>Hydrofluoric Acid (HF)</a:t>
            </a:r>
          </a:p>
        </p:txBody>
      </p:sp>
      <p:sp>
        <p:nvSpPr>
          <p:cNvPr id="13" name="Rectangle 12"/>
          <p:cNvSpPr/>
          <p:nvPr/>
        </p:nvSpPr>
        <p:spPr>
          <a:xfrm>
            <a:off x="76200" y="2223468"/>
            <a:ext cx="2778325" cy="369332"/>
          </a:xfrm>
          <a:prstGeom prst="rect">
            <a:avLst/>
          </a:prstGeom>
        </p:spPr>
        <p:txBody>
          <a:bodyPr wrap="none">
            <a:spAutoFit/>
          </a:bodyPr>
          <a:lstStyle/>
          <a:p>
            <a:r>
              <a:rPr lang="en-US" b="1" dirty="0"/>
              <a:t>🧬 </a:t>
            </a:r>
            <a:r>
              <a:rPr lang="en-US" b="1" dirty="0">
                <a:solidFill>
                  <a:srgbClr val="FFFF00"/>
                </a:solidFill>
              </a:rPr>
              <a:t>Biological Examples:</a:t>
            </a:r>
          </a:p>
        </p:txBody>
      </p:sp>
      <p:sp>
        <p:nvSpPr>
          <p:cNvPr id="14" name="Rectangle 13"/>
          <p:cNvSpPr/>
          <p:nvPr/>
        </p:nvSpPr>
        <p:spPr>
          <a:xfrm>
            <a:off x="2743378" y="2223468"/>
            <a:ext cx="2201115" cy="369332"/>
          </a:xfrm>
          <a:prstGeom prst="rect">
            <a:avLst/>
          </a:prstGeom>
        </p:spPr>
        <p:txBody>
          <a:bodyPr wrap="none">
            <a:spAutoFit/>
          </a:bodyPr>
          <a:lstStyle/>
          <a:p>
            <a:r>
              <a:rPr lang="en-US" dirty="0"/>
              <a:t>DNA Double </a:t>
            </a:r>
            <a:r>
              <a:rPr lang="en-US" dirty="0" smtClean="0"/>
              <a:t>Helix;</a:t>
            </a:r>
            <a:endParaRPr lang="en-US" dirty="0"/>
          </a:p>
        </p:txBody>
      </p:sp>
      <p:sp>
        <p:nvSpPr>
          <p:cNvPr id="15" name="Rectangle 14"/>
          <p:cNvSpPr/>
          <p:nvPr/>
        </p:nvSpPr>
        <p:spPr>
          <a:xfrm>
            <a:off x="4944493" y="2223468"/>
            <a:ext cx="3316934" cy="369332"/>
          </a:xfrm>
          <a:prstGeom prst="rect">
            <a:avLst/>
          </a:prstGeom>
        </p:spPr>
        <p:txBody>
          <a:bodyPr wrap="none">
            <a:spAutoFit/>
          </a:bodyPr>
          <a:lstStyle/>
          <a:p>
            <a:r>
              <a:rPr lang="en-US" dirty="0"/>
              <a:t>Proteins (Secondary Structure)</a:t>
            </a:r>
          </a:p>
        </p:txBody>
      </p:sp>
      <p:sp>
        <p:nvSpPr>
          <p:cNvPr id="16" name="AutoShape 10" descr="Lesson Explainer: Hydrogen Bonding | Nagw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7" name="AutoShape 12" descr="Lesson Explainer: Hydrogen Bonding | Nagw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3276600"/>
            <a:ext cx="7997825" cy="3276600"/>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667000"/>
            <a:ext cx="8762999"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767083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053" y="228600"/>
            <a:ext cx="4242443" cy="461665"/>
          </a:xfrm>
          <a:prstGeom prst="rect">
            <a:avLst/>
          </a:prstGeom>
        </p:spPr>
        <p:txBody>
          <a:bodyPr wrap="none">
            <a:spAutoFit/>
          </a:bodyPr>
          <a:lstStyle/>
          <a:p>
            <a:r>
              <a:rPr lang="en-US" sz="2400" b="1" u="sng" dirty="0">
                <a:solidFill>
                  <a:srgbClr val="FFC000"/>
                </a:solidFill>
              </a:rPr>
              <a:t>Types of Hydrogen </a:t>
            </a:r>
            <a:r>
              <a:rPr lang="en-US" sz="2400" b="1" u="sng" dirty="0" smtClean="0">
                <a:solidFill>
                  <a:srgbClr val="FFC000"/>
                </a:solidFill>
              </a:rPr>
              <a:t>Bonding:</a:t>
            </a:r>
            <a:endParaRPr lang="en-US" sz="2400" b="1" u="sng" dirty="0">
              <a:solidFill>
                <a:srgbClr val="FFC000"/>
              </a:solidFill>
            </a:endParaRPr>
          </a:p>
        </p:txBody>
      </p:sp>
      <p:sp>
        <p:nvSpPr>
          <p:cNvPr id="3" name="Rectangle 2"/>
          <p:cNvSpPr/>
          <p:nvPr/>
        </p:nvSpPr>
        <p:spPr>
          <a:xfrm>
            <a:off x="20052" y="838200"/>
            <a:ext cx="8819147" cy="369332"/>
          </a:xfrm>
          <a:prstGeom prst="rect">
            <a:avLst/>
          </a:prstGeom>
        </p:spPr>
        <p:txBody>
          <a:bodyPr wrap="square">
            <a:spAutoFit/>
          </a:bodyPr>
          <a:lstStyle/>
          <a:p>
            <a:r>
              <a:rPr lang="en-US" dirty="0"/>
              <a:t>There are two types of H bonds, and it is classified as the following:</a:t>
            </a:r>
          </a:p>
        </p:txBody>
      </p:sp>
      <p:sp>
        <p:nvSpPr>
          <p:cNvPr id="4" name="Rectangle 3"/>
          <p:cNvSpPr/>
          <p:nvPr/>
        </p:nvSpPr>
        <p:spPr>
          <a:xfrm>
            <a:off x="152400" y="1447800"/>
            <a:ext cx="7772400" cy="923330"/>
          </a:xfrm>
          <a:prstGeom prst="rect">
            <a:avLst/>
          </a:prstGeom>
        </p:spPr>
        <p:txBody>
          <a:bodyPr wrap="square">
            <a:spAutoFit/>
          </a:bodyPr>
          <a:lstStyle/>
          <a:p>
            <a:pPr marL="285750" indent="-285750">
              <a:buFont typeface="Arial" pitchFamily="34" charset="0"/>
              <a:buChar char="•"/>
            </a:pPr>
            <a:r>
              <a:rPr lang="en-US" u="sng" dirty="0"/>
              <a:t>Intermolecular</a:t>
            </a:r>
            <a:r>
              <a:rPr lang="en-US" dirty="0"/>
              <a:t> Hydrogen Bonding(between two different </a:t>
            </a:r>
            <a:r>
              <a:rPr lang="en-US" dirty="0" smtClean="0"/>
              <a:t>molecules)</a:t>
            </a:r>
          </a:p>
          <a:p>
            <a:pPr marL="285750" indent="-285750">
              <a:buFont typeface="Arial" pitchFamily="34" charset="0"/>
              <a:buChar char="•"/>
            </a:pPr>
            <a:endParaRPr lang="en-US" dirty="0"/>
          </a:p>
          <a:p>
            <a:pPr marL="285750" indent="-285750">
              <a:buFont typeface="Arial" pitchFamily="34" charset="0"/>
              <a:buChar char="•"/>
            </a:pPr>
            <a:r>
              <a:rPr lang="en-US" u="sng" dirty="0" err="1"/>
              <a:t>Intramolecular</a:t>
            </a:r>
            <a:r>
              <a:rPr lang="en-US" dirty="0"/>
              <a:t> Hydrogen Bonding(within the same </a:t>
            </a:r>
            <a:r>
              <a:rPr lang="en-US" dirty="0" smtClean="0"/>
              <a:t>molecule)</a:t>
            </a:r>
            <a:endParaRPr lang="en-US" dirty="0"/>
          </a:p>
        </p:txBody>
      </p:sp>
      <p:sp>
        <p:nvSpPr>
          <p:cNvPr id="5" name="Rectangle 4"/>
          <p:cNvSpPr/>
          <p:nvPr/>
        </p:nvSpPr>
        <p:spPr>
          <a:xfrm>
            <a:off x="48126" y="2590800"/>
            <a:ext cx="3895618" cy="369332"/>
          </a:xfrm>
          <a:prstGeom prst="rect">
            <a:avLst/>
          </a:prstGeom>
        </p:spPr>
        <p:txBody>
          <a:bodyPr wrap="none">
            <a:spAutoFit/>
          </a:bodyPr>
          <a:lstStyle/>
          <a:p>
            <a:r>
              <a:rPr lang="en-US" b="1" dirty="0">
                <a:solidFill>
                  <a:schemeClr val="accent5">
                    <a:lumMod val="75000"/>
                  </a:schemeClr>
                </a:solidFill>
              </a:rPr>
              <a:t>Intermolecular Hydrogen </a:t>
            </a:r>
            <a:r>
              <a:rPr lang="en-US" b="1" dirty="0" smtClean="0">
                <a:solidFill>
                  <a:schemeClr val="accent5">
                    <a:lumMod val="75000"/>
                  </a:schemeClr>
                </a:solidFill>
              </a:rPr>
              <a:t>Bonding:</a:t>
            </a:r>
            <a:endParaRPr lang="en-US" b="1" dirty="0">
              <a:solidFill>
                <a:schemeClr val="accent5">
                  <a:lumMod val="75000"/>
                </a:schemeClr>
              </a:solidFill>
            </a:endParaRPr>
          </a:p>
        </p:txBody>
      </p:sp>
      <p:sp>
        <p:nvSpPr>
          <p:cNvPr id="6" name="Rectangle 5"/>
          <p:cNvSpPr/>
          <p:nvPr/>
        </p:nvSpPr>
        <p:spPr>
          <a:xfrm>
            <a:off x="60158" y="3124200"/>
            <a:ext cx="8245642" cy="646331"/>
          </a:xfrm>
          <a:prstGeom prst="rect">
            <a:avLst/>
          </a:prstGeom>
        </p:spPr>
        <p:txBody>
          <a:bodyPr wrap="square">
            <a:spAutoFit/>
          </a:bodyPr>
          <a:lstStyle/>
          <a:p>
            <a:r>
              <a:rPr lang="en-US" dirty="0"/>
              <a:t>When hydrogen bonding takes place between different molecules of the same or different compounds, it is called</a:t>
            </a:r>
            <a:r>
              <a:rPr lang="en-US" b="1" dirty="0"/>
              <a:t> intermolecular hydrogen bonding.</a:t>
            </a:r>
            <a:endParaRPr lang="en-US" dirty="0"/>
          </a:p>
        </p:txBody>
      </p:sp>
      <p:sp>
        <p:nvSpPr>
          <p:cNvPr id="7" name="Rectangle 6"/>
          <p:cNvSpPr/>
          <p:nvPr/>
        </p:nvSpPr>
        <p:spPr>
          <a:xfrm>
            <a:off x="152400" y="3886200"/>
            <a:ext cx="1585690" cy="461665"/>
          </a:xfrm>
          <a:prstGeom prst="rect">
            <a:avLst/>
          </a:prstGeom>
        </p:spPr>
        <p:txBody>
          <a:bodyPr wrap="none">
            <a:spAutoFit/>
          </a:bodyPr>
          <a:lstStyle/>
          <a:p>
            <a:r>
              <a:rPr lang="en-US" sz="2400" dirty="0" smtClean="0">
                <a:solidFill>
                  <a:srgbClr val="FFFF00"/>
                </a:solidFill>
              </a:rPr>
              <a:t>Examples:</a:t>
            </a:r>
            <a:endParaRPr lang="en-US" sz="2400" dirty="0">
              <a:solidFill>
                <a:srgbClr val="FFFF00"/>
              </a:solidFill>
            </a:endParaRPr>
          </a:p>
        </p:txBody>
      </p:sp>
      <p:sp>
        <p:nvSpPr>
          <p:cNvPr id="8" name="Rectangle 7"/>
          <p:cNvSpPr/>
          <p:nvPr/>
        </p:nvSpPr>
        <p:spPr>
          <a:xfrm>
            <a:off x="1738090" y="3998404"/>
            <a:ext cx="1508426" cy="369332"/>
          </a:xfrm>
          <a:prstGeom prst="rect">
            <a:avLst/>
          </a:prstGeom>
        </p:spPr>
        <p:txBody>
          <a:bodyPr wrap="none">
            <a:spAutoFit/>
          </a:bodyPr>
          <a:lstStyle/>
          <a:p>
            <a:r>
              <a:rPr lang="en-US" dirty="0"/>
              <a:t>Water (H₂O</a:t>
            </a:r>
            <a:r>
              <a:rPr lang="en-US" dirty="0" smtClean="0"/>
              <a:t>),</a:t>
            </a:r>
            <a:endParaRPr lang="en-US" dirty="0"/>
          </a:p>
        </p:txBody>
      </p:sp>
      <p:sp>
        <p:nvSpPr>
          <p:cNvPr id="9" name="Rectangle 8"/>
          <p:cNvSpPr/>
          <p:nvPr/>
        </p:nvSpPr>
        <p:spPr>
          <a:xfrm>
            <a:off x="3222111" y="3998404"/>
            <a:ext cx="2757486" cy="369332"/>
          </a:xfrm>
          <a:prstGeom prst="rect">
            <a:avLst/>
          </a:prstGeom>
        </p:spPr>
        <p:txBody>
          <a:bodyPr wrap="none">
            <a:spAutoFit/>
          </a:bodyPr>
          <a:lstStyle/>
          <a:p>
            <a:r>
              <a:rPr lang="en-US" dirty="0"/>
              <a:t>Hydrogen Fluoride (HF</a:t>
            </a:r>
            <a:r>
              <a:rPr lang="en-US" dirty="0" smtClean="0"/>
              <a:t>),</a:t>
            </a:r>
            <a:endParaRPr lang="en-US" dirty="0"/>
          </a:p>
        </p:txBody>
      </p:sp>
      <p:sp>
        <p:nvSpPr>
          <p:cNvPr id="10" name="Rectangle 9"/>
          <p:cNvSpPr/>
          <p:nvPr/>
        </p:nvSpPr>
        <p:spPr>
          <a:xfrm>
            <a:off x="5867400" y="3998404"/>
            <a:ext cx="1885453" cy="369332"/>
          </a:xfrm>
          <a:prstGeom prst="rect">
            <a:avLst/>
          </a:prstGeom>
        </p:spPr>
        <p:txBody>
          <a:bodyPr wrap="none">
            <a:spAutoFit/>
          </a:bodyPr>
          <a:lstStyle/>
          <a:p>
            <a:r>
              <a:rPr lang="en-US" dirty="0"/>
              <a:t>Ammonia (NH₃)</a:t>
            </a:r>
          </a:p>
        </p:txBody>
      </p:sp>
      <p:pic>
        <p:nvPicPr>
          <p:cNvPr id="2052" name="Picture 4" descr="Examples of Hydrogen Bonding - Chemistry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5245" y="4571999"/>
            <a:ext cx="5150755" cy="213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73215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ydrogen Bonding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85" y="18351"/>
            <a:ext cx="8991600" cy="311016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ydrogen Bonding - GeeksforGeek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124200"/>
            <a:ext cx="89916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2077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52400"/>
            <a:ext cx="5009705" cy="461665"/>
          </a:xfrm>
          <a:prstGeom prst="rect">
            <a:avLst/>
          </a:prstGeom>
        </p:spPr>
        <p:txBody>
          <a:bodyPr wrap="none">
            <a:spAutoFit/>
          </a:bodyPr>
          <a:lstStyle/>
          <a:p>
            <a:r>
              <a:rPr lang="en-US" sz="2400" dirty="0" err="1">
                <a:solidFill>
                  <a:srgbClr val="FFC000"/>
                </a:solidFill>
              </a:rPr>
              <a:t>Intramolecula</a:t>
            </a:r>
            <a:r>
              <a:rPr lang="en-US" sz="2400" u="sng" dirty="0" err="1">
                <a:solidFill>
                  <a:srgbClr val="FFC000"/>
                </a:solidFill>
              </a:rPr>
              <a:t>r</a:t>
            </a:r>
            <a:r>
              <a:rPr lang="en-US" sz="2400" dirty="0">
                <a:solidFill>
                  <a:srgbClr val="FFC000"/>
                </a:solidFill>
              </a:rPr>
              <a:t> Hydrogen </a:t>
            </a:r>
            <a:r>
              <a:rPr lang="en-US" sz="2400" dirty="0" smtClean="0">
                <a:solidFill>
                  <a:srgbClr val="FFC000"/>
                </a:solidFill>
              </a:rPr>
              <a:t>Bonding:</a:t>
            </a:r>
            <a:endParaRPr lang="en-US" sz="2400" dirty="0">
              <a:solidFill>
                <a:srgbClr val="FFC000"/>
              </a:solidFill>
            </a:endParaRPr>
          </a:p>
        </p:txBody>
      </p:sp>
      <p:sp>
        <p:nvSpPr>
          <p:cNvPr id="3" name="Rectangle 2"/>
          <p:cNvSpPr/>
          <p:nvPr/>
        </p:nvSpPr>
        <p:spPr>
          <a:xfrm>
            <a:off x="76200" y="838200"/>
            <a:ext cx="9067800" cy="646331"/>
          </a:xfrm>
          <a:prstGeom prst="rect">
            <a:avLst/>
          </a:prstGeom>
        </p:spPr>
        <p:txBody>
          <a:bodyPr wrap="square">
            <a:spAutoFit/>
          </a:bodyPr>
          <a:lstStyle/>
          <a:p>
            <a:r>
              <a:rPr lang="en-US" dirty="0"/>
              <a:t>The hydrogen bonding which takes place within a molecule itself is called </a:t>
            </a:r>
            <a:r>
              <a:rPr lang="en-US" b="1" dirty="0" err="1"/>
              <a:t>intramolecular</a:t>
            </a:r>
            <a:r>
              <a:rPr lang="en-US" b="1" dirty="0"/>
              <a:t> hydrogen bonding.</a:t>
            </a:r>
            <a:endParaRPr lang="en-US" dirty="0"/>
          </a:p>
        </p:txBody>
      </p:sp>
      <p:sp>
        <p:nvSpPr>
          <p:cNvPr id="4" name="Rectangle 3"/>
          <p:cNvSpPr/>
          <p:nvPr/>
        </p:nvSpPr>
        <p:spPr>
          <a:xfrm>
            <a:off x="112295" y="1752600"/>
            <a:ext cx="1236236" cy="369332"/>
          </a:xfrm>
          <a:prstGeom prst="rect">
            <a:avLst/>
          </a:prstGeom>
        </p:spPr>
        <p:txBody>
          <a:bodyPr wrap="none">
            <a:spAutoFit/>
          </a:bodyPr>
          <a:lstStyle/>
          <a:p>
            <a:r>
              <a:rPr lang="en-US" dirty="0">
                <a:solidFill>
                  <a:srgbClr val="FFFF00"/>
                </a:solidFill>
              </a:rPr>
              <a:t>Examples:</a:t>
            </a:r>
          </a:p>
        </p:txBody>
      </p:sp>
      <p:sp>
        <p:nvSpPr>
          <p:cNvPr id="5" name="Rectangle 4"/>
          <p:cNvSpPr/>
          <p:nvPr/>
        </p:nvSpPr>
        <p:spPr>
          <a:xfrm>
            <a:off x="1348531" y="1752600"/>
            <a:ext cx="4124847" cy="369332"/>
          </a:xfrm>
          <a:prstGeom prst="rect">
            <a:avLst/>
          </a:prstGeom>
        </p:spPr>
        <p:txBody>
          <a:bodyPr wrap="none">
            <a:spAutoFit/>
          </a:bodyPr>
          <a:lstStyle/>
          <a:p>
            <a:r>
              <a:rPr lang="en-US" b="1" dirty="0"/>
              <a:t>Ortho-</a:t>
            </a:r>
            <a:r>
              <a:rPr lang="en-US" b="1" dirty="0" err="1"/>
              <a:t>Nitrophenol</a:t>
            </a:r>
            <a:r>
              <a:rPr lang="en-US" b="1" dirty="0"/>
              <a:t> (C₆H₄(OH)(NO₂</a:t>
            </a:r>
            <a:r>
              <a:rPr lang="en-US" b="1" dirty="0" smtClean="0"/>
              <a:t>));</a:t>
            </a:r>
            <a:endParaRPr lang="en-US" b="1" dirty="0"/>
          </a:p>
        </p:txBody>
      </p:sp>
      <p:sp>
        <p:nvSpPr>
          <p:cNvPr id="6" name="Rectangle 5"/>
          <p:cNvSpPr/>
          <p:nvPr/>
        </p:nvSpPr>
        <p:spPr>
          <a:xfrm>
            <a:off x="5395048" y="1752600"/>
            <a:ext cx="3736920" cy="369332"/>
          </a:xfrm>
          <a:prstGeom prst="rect">
            <a:avLst/>
          </a:prstGeom>
        </p:spPr>
        <p:txBody>
          <a:bodyPr wrap="none">
            <a:spAutoFit/>
          </a:bodyPr>
          <a:lstStyle/>
          <a:p>
            <a:r>
              <a:rPr lang="en-US" dirty="0" err="1"/>
              <a:t>Salicylaldehyde</a:t>
            </a:r>
            <a:r>
              <a:rPr lang="en-US" dirty="0"/>
              <a:t> (C₆H₄(OH)(CHO))</a:t>
            </a:r>
          </a:p>
        </p:txBody>
      </p:sp>
      <p:pic>
        <p:nvPicPr>
          <p:cNvPr id="4098" name="Picture 2" descr="HYDROGEN BOND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667000"/>
            <a:ext cx="7772400" cy="3581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9832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4689104" cy="461665"/>
          </a:xfrm>
          <a:prstGeom prst="rect">
            <a:avLst/>
          </a:prstGeom>
        </p:spPr>
        <p:txBody>
          <a:bodyPr wrap="none">
            <a:spAutoFit/>
          </a:bodyPr>
          <a:lstStyle/>
          <a:p>
            <a:r>
              <a:rPr lang="en-US" sz="2400" b="1" u="sng" dirty="0">
                <a:solidFill>
                  <a:srgbClr val="FFC000"/>
                </a:solidFill>
              </a:rPr>
              <a:t>Strength of the Hydrogen </a:t>
            </a:r>
            <a:r>
              <a:rPr lang="en-US" sz="2400" b="1" u="sng" dirty="0" smtClean="0">
                <a:solidFill>
                  <a:srgbClr val="FFC000"/>
                </a:solidFill>
              </a:rPr>
              <a:t>Bond:</a:t>
            </a:r>
            <a:endParaRPr lang="en-US" sz="2400" b="1" u="sng" dirty="0">
              <a:solidFill>
                <a:srgbClr val="FFC000"/>
              </a:solidFill>
            </a:endParaRPr>
          </a:p>
        </p:txBody>
      </p:sp>
      <p:sp>
        <p:nvSpPr>
          <p:cNvPr id="3" name="Rectangle 2"/>
          <p:cNvSpPr/>
          <p:nvPr/>
        </p:nvSpPr>
        <p:spPr>
          <a:xfrm>
            <a:off x="269504" y="1143000"/>
            <a:ext cx="8645896" cy="646331"/>
          </a:xfrm>
          <a:prstGeom prst="rect">
            <a:avLst/>
          </a:prstGeom>
        </p:spPr>
        <p:txBody>
          <a:bodyPr wrap="square">
            <a:spAutoFit/>
          </a:bodyPr>
          <a:lstStyle/>
          <a:p>
            <a:r>
              <a:rPr lang="en-US" dirty="0"/>
              <a:t>The hydrogen bond is a weak bond. The strength of the hydrogen bond is in-between the weak </a:t>
            </a:r>
            <a:r>
              <a:rPr lang="en-US" dirty="0">
                <a:hlinkClick r:id="rId2"/>
              </a:rPr>
              <a:t>Van der Waals forces</a:t>
            </a:r>
            <a:r>
              <a:rPr lang="en-US" dirty="0"/>
              <a:t> and the strong covalent bonds.</a:t>
            </a:r>
          </a:p>
        </p:txBody>
      </p:sp>
      <p:sp>
        <p:nvSpPr>
          <p:cNvPr id="4" name="Rectangle 3"/>
          <p:cNvSpPr/>
          <p:nvPr/>
        </p:nvSpPr>
        <p:spPr>
          <a:xfrm>
            <a:off x="269504" y="1789331"/>
            <a:ext cx="6207496" cy="369332"/>
          </a:xfrm>
          <a:prstGeom prst="rect">
            <a:avLst/>
          </a:prstGeom>
        </p:spPr>
        <p:txBody>
          <a:bodyPr wrap="square">
            <a:spAutoFit/>
          </a:bodyPr>
          <a:lstStyle/>
          <a:p>
            <a:r>
              <a:rPr lang="en-US" b="1" dirty="0"/>
              <a:t>Average hydrogen bond strength:</a:t>
            </a:r>
            <a:r>
              <a:rPr lang="en-US" dirty="0"/>
              <a:t> </a:t>
            </a:r>
            <a:r>
              <a:rPr lang="en-US" b="1" dirty="0">
                <a:solidFill>
                  <a:srgbClr val="FF0000"/>
                </a:solidFill>
              </a:rPr>
              <a:t>10–30 kJ/</a:t>
            </a:r>
            <a:r>
              <a:rPr lang="en-US" b="1" dirty="0" err="1">
                <a:solidFill>
                  <a:srgbClr val="FF0000"/>
                </a:solidFill>
              </a:rPr>
              <a:t>mol</a:t>
            </a:r>
            <a:endParaRPr lang="en-US" dirty="0">
              <a:solidFill>
                <a:srgbClr val="FF0000"/>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769826087"/>
              </p:ext>
            </p:extLst>
          </p:nvPr>
        </p:nvGraphicFramePr>
        <p:xfrm>
          <a:off x="160638" y="2438400"/>
          <a:ext cx="6705600" cy="2362200"/>
        </p:xfrm>
        <a:graphic>
          <a:graphicData uri="http://schemas.openxmlformats.org/drawingml/2006/table">
            <a:tbl>
              <a:tblPr/>
              <a:tblGrid>
                <a:gridCol w="3352800"/>
                <a:gridCol w="3352800"/>
              </a:tblGrid>
              <a:tr h="472440">
                <a:tc>
                  <a:txBody>
                    <a:bodyPr/>
                    <a:lstStyle/>
                    <a:p>
                      <a:r>
                        <a:rPr lang="en-US" b="1" u="sng" dirty="0"/>
                        <a:t>Type</a:t>
                      </a:r>
                    </a:p>
                  </a:txBody>
                  <a:tcPr anchor="ctr">
                    <a:lnL>
                      <a:noFill/>
                    </a:lnL>
                    <a:lnR>
                      <a:noFill/>
                    </a:lnR>
                    <a:lnT>
                      <a:noFill/>
                    </a:lnT>
                    <a:lnB>
                      <a:noFill/>
                    </a:lnB>
                  </a:tcPr>
                </a:tc>
                <a:tc>
                  <a:txBody>
                    <a:bodyPr/>
                    <a:lstStyle/>
                    <a:p>
                      <a:r>
                        <a:rPr lang="en-US" b="1" u="sng" dirty="0"/>
                        <a:t>Strength (kJ/</a:t>
                      </a:r>
                      <a:r>
                        <a:rPr lang="en-US" b="1" u="sng" dirty="0" err="1"/>
                        <a:t>mol</a:t>
                      </a:r>
                      <a:r>
                        <a:rPr lang="en-US" b="1" u="sng" dirty="0"/>
                        <a:t>)</a:t>
                      </a:r>
                    </a:p>
                  </a:txBody>
                  <a:tcPr anchor="ctr">
                    <a:lnL>
                      <a:noFill/>
                    </a:lnL>
                    <a:lnR>
                      <a:noFill/>
                    </a:lnR>
                    <a:lnT>
                      <a:noFill/>
                    </a:lnT>
                    <a:lnB>
                      <a:noFill/>
                    </a:lnB>
                  </a:tcPr>
                </a:tc>
              </a:tr>
              <a:tr h="472440">
                <a:tc>
                  <a:txBody>
                    <a:bodyPr/>
                    <a:lstStyle/>
                    <a:p>
                      <a:r>
                        <a:rPr lang="en-US"/>
                        <a:t>Covalent Bond</a:t>
                      </a:r>
                    </a:p>
                  </a:txBody>
                  <a:tcPr anchor="ctr">
                    <a:lnL>
                      <a:noFill/>
                    </a:lnL>
                    <a:lnR>
                      <a:noFill/>
                    </a:lnR>
                    <a:lnT>
                      <a:noFill/>
                    </a:lnT>
                    <a:lnB>
                      <a:noFill/>
                    </a:lnB>
                  </a:tcPr>
                </a:tc>
                <a:tc>
                  <a:txBody>
                    <a:bodyPr/>
                    <a:lstStyle/>
                    <a:p>
                      <a:r>
                        <a:rPr lang="en-US" dirty="0"/>
                        <a:t>200–1000</a:t>
                      </a:r>
                    </a:p>
                  </a:txBody>
                  <a:tcPr anchor="ctr">
                    <a:lnL>
                      <a:noFill/>
                    </a:lnL>
                    <a:lnR>
                      <a:noFill/>
                    </a:lnR>
                    <a:lnT>
                      <a:noFill/>
                    </a:lnT>
                    <a:lnB>
                      <a:noFill/>
                    </a:lnB>
                  </a:tcPr>
                </a:tc>
              </a:tr>
              <a:tr h="472440">
                <a:tc>
                  <a:txBody>
                    <a:bodyPr/>
                    <a:lstStyle/>
                    <a:p>
                      <a:r>
                        <a:rPr lang="en-US"/>
                        <a:t>Ionic Bond</a:t>
                      </a:r>
                    </a:p>
                  </a:txBody>
                  <a:tcPr anchor="ctr">
                    <a:lnL>
                      <a:noFill/>
                    </a:lnL>
                    <a:lnR>
                      <a:noFill/>
                    </a:lnR>
                    <a:lnT>
                      <a:noFill/>
                    </a:lnT>
                    <a:lnB>
                      <a:noFill/>
                    </a:lnB>
                  </a:tcPr>
                </a:tc>
                <a:tc>
                  <a:txBody>
                    <a:bodyPr/>
                    <a:lstStyle/>
                    <a:p>
                      <a:r>
                        <a:rPr lang="en-US"/>
                        <a:t>400–4000</a:t>
                      </a:r>
                    </a:p>
                  </a:txBody>
                  <a:tcPr anchor="ctr">
                    <a:lnL>
                      <a:noFill/>
                    </a:lnL>
                    <a:lnR>
                      <a:noFill/>
                    </a:lnR>
                    <a:lnT>
                      <a:noFill/>
                    </a:lnT>
                    <a:lnB>
                      <a:noFill/>
                    </a:lnB>
                  </a:tcPr>
                </a:tc>
              </a:tr>
              <a:tr h="472440">
                <a:tc>
                  <a:txBody>
                    <a:bodyPr/>
                    <a:lstStyle/>
                    <a:p>
                      <a:r>
                        <a:rPr lang="en-US" b="1"/>
                        <a:t>Hydrogen Bond</a:t>
                      </a:r>
                      <a:endParaRPr lang="en-US"/>
                    </a:p>
                  </a:txBody>
                  <a:tcPr anchor="ctr">
                    <a:lnL>
                      <a:noFill/>
                    </a:lnL>
                    <a:lnR>
                      <a:noFill/>
                    </a:lnR>
                    <a:lnT>
                      <a:noFill/>
                    </a:lnT>
                    <a:lnB>
                      <a:noFill/>
                    </a:lnB>
                  </a:tcPr>
                </a:tc>
                <a:tc>
                  <a:txBody>
                    <a:bodyPr/>
                    <a:lstStyle/>
                    <a:p>
                      <a:r>
                        <a:rPr lang="en-US" b="1" dirty="0"/>
                        <a:t>5–40</a:t>
                      </a:r>
                      <a:endParaRPr lang="en-US" dirty="0"/>
                    </a:p>
                  </a:txBody>
                  <a:tcPr anchor="ctr">
                    <a:lnL>
                      <a:noFill/>
                    </a:lnL>
                    <a:lnR>
                      <a:noFill/>
                    </a:lnR>
                    <a:lnT>
                      <a:noFill/>
                    </a:lnT>
                    <a:lnB>
                      <a:noFill/>
                    </a:lnB>
                  </a:tcPr>
                </a:tc>
              </a:tr>
              <a:tr h="472440">
                <a:tc>
                  <a:txBody>
                    <a:bodyPr/>
                    <a:lstStyle/>
                    <a:p>
                      <a:r>
                        <a:rPr lang="en-US"/>
                        <a:t>Van der Waals / London Forces</a:t>
                      </a:r>
                    </a:p>
                  </a:txBody>
                  <a:tcPr anchor="ctr">
                    <a:lnL>
                      <a:noFill/>
                    </a:lnL>
                    <a:lnR>
                      <a:noFill/>
                    </a:lnR>
                    <a:lnT>
                      <a:noFill/>
                    </a:lnT>
                    <a:lnB>
                      <a:noFill/>
                    </a:lnB>
                  </a:tcPr>
                </a:tc>
                <a:tc>
                  <a:txBody>
                    <a:bodyPr/>
                    <a:lstStyle/>
                    <a:p>
                      <a:r>
                        <a:rPr lang="en-US" dirty="0"/>
                        <a:t>0.05–4</a:t>
                      </a:r>
                    </a:p>
                  </a:txBody>
                  <a:tcPr anchor="ctr">
                    <a:lnL>
                      <a:noFill/>
                    </a:lnL>
                    <a:lnR>
                      <a:noFill/>
                    </a:lnR>
                    <a:lnT>
                      <a:noFill/>
                    </a:lnT>
                    <a:lnB>
                      <a:noFill/>
                    </a:lnB>
                  </a:tcPr>
                </a:tc>
              </a:tr>
            </a:tbl>
          </a:graphicData>
        </a:graphic>
      </p:graphicFrame>
      <p:sp>
        <p:nvSpPr>
          <p:cNvPr id="6" name="Rectangle 5"/>
          <p:cNvSpPr/>
          <p:nvPr/>
        </p:nvSpPr>
        <p:spPr>
          <a:xfrm>
            <a:off x="123568" y="5285265"/>
            <a:ext cx="7028048" cy="461665"/>
          </a:xfrm>
          <a:prstGeom prst="rect">
            <a:avLst/>
          </a:prstGeom>
        </p:spPr>
        <p:txBody>
          <a:bodyPr wrap="square">
            <a:spAutoFit/>
          </a:bodyPr>
          <a:lstStyle/>
          <a:p>
            <a:r>
              <a:rPr lang="en-US" sz="2400" dirty="0">
                <a:solidFill>
                  <a:srgbClr val="FF0000"/>
                </a:solidFill>
              </a:rPr>
              <a:t>🔬 </a:t>
            </a:r>
            <a:r>
              <a:rPr lang="en-US" sz="2400" b="1" dirty="0">
                <a:solidFill>
                  <a:srgbClr val="FF0000"/>
                </a:solidFill>
              </a:rPr>
              <a:t>Factors Affecting Hydrogen Bond Strength:</a:t>
            </a:r>
            <a:endParaRPr lang="en-US" sz="2400" dirty="0">
              <a:solidFill>
                <a:srgbClr val="FF0000"/>
              </a:solidFill>
            </a:endParaRPr>
          </a:p>
        </p:txBody>
      </p:sp>
      <p:sp>
        <p:nvSpPr>
          <p:cNvPr id="7" name="Rectangle 1"/>
          <p:cNvSpPr>
            <a:spLocks noChangeArrowheads="1"/>
          </p:cNvSpPr>
          <p:nvPr/>
        </p:nvSpPr>
        <p:spPr bwMode="auto">
          <a:xfrm>
            <a:off x="914400" y="6077634"/>
            <a:ext cx="349647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7" fontAlgn="base">
              <a:spcBef>
                <a:spcPct val="0"/>
              </a:spcBef>
              <a:spcAft>
                <a:spcPct val="0"/>
              </a:spcAf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spTree>
    <p:extLst>
      <p:ext uri="{BB962C8B-B14F-4D97-AF65-F5344CB8AC3E}">
        <p14:creationId xmlns:p14="http://schemas.microsoft.com/office/powerpoint/2010/main" val="14684205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2654" y="228600"/>
            <a:ext cx="8540739"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tabLst/>
            </a:pPr>
            <a:r>
              <a:rPr kumimoji="0" lang="en-US" sz="1800" b="1" i="0" u="none" strike="noStrike" cap="none" normalizeH="0" baseline="0" dirty="0" smtClean="0">
                <a:ln>
                  <a:noFill/>
                </a:ln>
                <a:solidFill>
                  <a:srgbClr val="FFC000"/>
                </a:solidFill>
                <a:effectLst/>
                <a:latin typeface="Arial" charset="0"/>
                <a:cs typeface="Arial" charset="0"/>
              </a:rPr>
              <a:t>1.Electronegativity of Atoms:</a:t>
            </a:r>
            <a:endParaRPr kumimoji="0" lang="en-US" sz="1800" b="0" i="0" u="none" strike="noStrike" cap="none" normalizeH="0" baseline="0" dirty="0" smtClean="0">
              <a:ln>
                <a:noFill/>
              </a:ln>
              <a:solidFill>
                <a:srgbClr val="FFC000"/>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Higher electronegativity of donor (O, N, F) → stronger bond.</a:t>
            </a:r>
          </a:p>
          <a:p>
            <a:pPr marL="0" marR="0" lvl="0" indent="0" algn="l" defTabSz="914400" rtl="0" eaLnBrk="0" fontAlgn="base" latinLnBrk="0" hangingPunct="0">
              <a:lnSpc>
                <a:spcPct val="100000"/>
              </a:lnSpc>
              <a:spcBef>
                <a:spcPct val="0"/>
              </a:spcBef>
              <a:spcAft>
                <a:spcPct val="0"/>
              </a:spcAft>
              <a:buClrTx/>
              <a:buSzTx/>
              <a:tabLs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1" i="0" u="none" strike="noStrike" cap="none" normalizeH="0" baseline="0" dirty="0" smtClean="0">
                <a:ln>
                  <a:noFill/>
                </a:ln>
                <a:solidFill>
                  <a:schemeClr val="tx1"/>
                </a:solidFill>
                <a:effectLst/>
                <a:latin typeface="Arial" charset="0"/>
                <a:cs typeface="Arial" charset="0"/>
              </a:rPr>
              <a:t>F–H···F &gt; O–H···O &gt; N–H···N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800" b="1" i="0" u="none" strike="noStrike" cap="none" normalizeH="0" baseline="0" dirty="0" smtClean="0">
                <a:ln>
                  <a:noFill/>
                </a:ln>
                <a:solidFill>
                  <a:srgbClr val="92D050"/>
                </a:solidFill>
                <a:effectLst/>
                <a:latin typeface="Arial" charset="0"/>
                <a:cs typeface="Arial" charset="0"/>
              </a:rPr>
              <a:t>2.Distance Between Donor and Acceptor:</a:t>
            </a:r>
            <a:endParaRPr kumimoji="0" lang="en-US" sz="1800" b="0" i="0" u="none" strike="noStrike" cap="none" normalizeH="0" baseline="0" dirty="0" smtClean="0">
              <a:ln>
                <a:noFill/>
              </a:ln>
              <a:solidFill>
                <a:srgbClr val="92D050"/>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Shorter distance = stronger H-bond.</a:t>
            </a:r>
          </a:p>
          <a:p>
            <a:pPr marL="0" marR="0" lvl="0" indent="0" algn="l" defTabSz="914400" rtl="0" eaLnBrk="0" fontAlgn="base" latinLnBrk="0" hangingPunct="0">
              <a:lnSpc>
                <a:spcPct val="100000"/>
              </a:lnSpc>
              <a:spcBef>
                <a:spcPct val="0"/>
              </a:spcBef>
              <a:spcAft>
                <a:spcPct val="0"/>
              </a:spcAft>
              <a:buClrTx/>
              <a:buSzTx/>
              <a:tabLst/>
            </a:pPr>
            <a:r>
              <a:rPr kumimoji="0" lang="en-US" sz="1800" b="1" i="0" u="none" strike="noStrike" cap="none" normalizeH="0" baseline="0" dirty="0" smtClean="0">
                <a:ln>
                  <a:noFill/>
                </a:ln>
                <a:solidFill>
                  <a:srgbClr val="FFFF00"/>
                </a:solidFill>
                <a:effectLst/>
                <a:latin typeface="Arial" charset="0"/>
                <a:cs typeface="Arial" charset="0"/>
              </a:rPr>
              <a:t>3.Angle of Bond:</a:t>
            </a:r>
            <a:endParaRPr kumimoji="0" lang="en-US" sz="1800" b="0" i="0" u="none" strike="noStrike" cap="none" normalizeH="0" baseline="0" dirty="0" smtClean="0">
              <a:ln>
                <a:noFill/>
              </a:ln>
              <a:solidFill>
                <a:srgbClr val="FFFF00"/>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Most stable when atoms are </a:t>
            </a:r>
            <a:r>
              <a:rPr kumimoji="0" lang="en-US" sz="1800" b="1" i="0" u="none" strike="noStrike" cap="none" normalizeH="0" baseline="0" dirty="0" smtClean="0">
                <a:ln>
                  <a:noFill/>
                </a:ln>
                <a:solidFill>
                  <a:schemeClr val="tx1"/>
                </a:solidFill>
                <a:effectLst/>
                <a:latin typeface="Arial" charset="0"/>
                <a:cs typeface="Arial" charset="0"/>
              </a:rPr>
              <a:t>in a straight line</a:t>
            </a:r>
            <a:r>
              <a:rPr kumimoji="0" lang="en-US" sz="1800" b="0" i="0" u="none" strike="noStrike" cap="none" normalizeH="0" baseline="0" dirty="0" smtClean="0">
                <a:ln>
                  <a:noFill/>
                </a:ln>
                <a:solidFill>
                  <a:schemeClr val="tx1"/>
                </a:solidFill>
                <a:effectLst/>
                <a:latin typeface="Arial" charset="0"/>
                <a:cs typeface="Arial"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tabLst/>
            </a:pPr>
            <a:r>
              <a:rPr kumimoji="0" lang="en-US" sz="1800" b="1" i="0" u="none" strike="noStrike" cap="none" normalizeH="0" baseline="0" dirty="0" smtClean="0">
                <a:ln>
                  <a:noFill/>
                </a:ln>
                <a:solidFill>
                  <a:srgbClr val="FFC000"/>
                </a:solidFill>
                <a:effectLst/>
                <a:latin typeface="Arial" charset="0"/>
                <a:cs typeface="Arial" charset="0"/>
              </a:rPr>
              <a:t>4.Environment (e.g., solvent, phase):</a:t>
            </a:r>
            <a:endParaRPr kumimoji="0" lang="en-US" sz="1800" b="0" i="0" u="none" strike="noStrike" cap="none" normalizeH="0" baseline="0" dirty="0" smtClean="0">
              <a:ln>
                <a:noFill/>
              </a:ln>
              <a:solidFill>
                <a:srgbClr val="FFC000"/>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In </a:t>
            </a:r>
            <a:r>
              <a:rPr kumimoji="0" lang="en-US" sz="1800" b="1" i="0" u="none" strike="noStrike" cap="none" normalizeH="0" baseline="0" dirty="0" smtClean="0">
                <a:ln>
                  <a:noFill/>
                </a:ln>
                <a:solidFill>
                  <a:schemeClr val="tx1"/>
                </a:solidFill>
                <a:effectLst/>
                <a:latin typeface="Arial" charset="0"/>
                <a:cs typeface="Arial" charset="0"/>
              </a:rPr>
              <a:t>nonpolar solvents</a:t>
            </a:r>
            <a:r>
              <a:rPr kumimoji="0" lang="en-US" sz="1800" b="0" i="0" u="none" strike="noStrike" cap="none" normalizeH="0" baseline="0" dirty="0" smtClean="0">
                <a:ln>
                  <a:noFill/>
                </a:ln>
                <a:solidFill>
                  <a:schemeClr val="tx1"/>
                </a:solidFill>
                <a:effectLst/>
                <a:latin typeface="Arial" charset="0"/>
                <a:cs typeface="Arial" charset="0"/>
              </a:rPr>
              <a:t> or in </a:t>
            </a:r>
            <a:r>
              <a:rPr kumimoji="0" lang="en-US" sz="1800" b="1" i="0" u="none" strike="noStrike" cap="none" normalizeH="0" baseline="0" dirty="0" smtClean="0">
                <a:ln>
                  <a:noFill/>
                </a:ln>
                <a:solidFill>
                  <a:schemeClr val="tx1"/>
                </a:solidFill>
                <a:effectLst/>
                <a:latin typeface="Arial" charset="0"/>
                <a:cs typeface="Arial" charset="0"/>
              </a:rPr>
              <a:t>gas phase</a:t>
            </a:r>
            <a:r>
              <a:rPr kumimoji="0" lang="en-US" sz="1800" b="0" i="0" u="none" strike="noStrike" cap="none" normalizeH="0" baseline="0" dirty="0" smtClean="0">
                <a:ln>
                  <a:noFill/>
                </a:ln>
                <a:solidFill>
                  <a:schemeClr val="tx1"/>
                </a:solidFill>
                <a:effectLst/>
                <a:latin typeface="Arial" charset="0"/>
                <a:cs typeface="Arial" charset="0"/>
              </a:rPr>
              <a:t>, H-bonds are stronger.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sz="1800" b="0" i="0" u="none" strike="noStrike" cap="none" normalizeH="0" baseline="0" dirty="0" smtClean="0">
              <a:ln>
                <a:noFill/>
              </a:ln>
              <a:solidFill>
                <a:schemeClr val="tx1"/>
              </a:solidFill>
              <a:effectLst/>
              <a:latin typeface="Arial" charset="0"/>
              <a:cs typeface="Arial"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sz="1800" b="0" i="0" u="none" strike="noStrike" cap="none" normalizeH="0" baseline="0" dirty="0" smtClean="0">
                <a:ln>
                  <a:noFill/>
                </a:ln>
                <a:solidFill>
                  <a:schemeClr val="tx1"/>
                </a:solidFill>
                <a:effectLst/>
                <a:latin typeface="Arial" charset="0"/>
                <a:cs typeface="Arial" charset="0"/>
              </a:rPr>
              <a:t>In </a:t>
            </a:r>
            <a:r>
              <a:rPr kumimoji="0" lang="en-US" sz="1800" b="1" i="0" u="none" strike="noStrike" cap="none" normalizeH="0" baseline="0" dirty="0" smtClean="0">
                <a:ln>
                  <a:noFill/>
                </a:ln>
                <a:solidFill>
                  <a:schemeClr val="tx1"/>
                </a:solidFill>
                <a:effectLst/>
                <a:latin typeface="Arial" charset="0"/>
                <a:cs typeface="Arial" charset="0"/>
              </a:rPr>
              <a:t>water</a:t>
            </a:r>
            <a:r>
              <a:rPr kumimoji="0" lang="en-US" sz="1800" b="0" i="0" u="none" strike="noStrike" cap="none" normalizeH="0" baseline="0" dirty="0" smtClean="0">
                <a:ln>
                  <a:noFill/>
                </a:ln>
                <a:solidFill>
                  <a:schemeClr val="tx1"/>
                </a:solidFill>
                <a:effectLst/>
                <a:latin typeface="Arial" charset="0"/>
                <a:cs typeface="Arial" charset="0"/>
              </a:rPr>
              <a:t> (which competes with H-bonding), bonds may weaken.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cs typeface="Arial" charset="0"/>
            </a:endParaRPr>
          </a:p>
        </p:txBody>
      </p:sp>
      <p:graphicFrame>
        <p:nvGraphicFramePr>
          <p:cNvPr id="3" name="Table 2"/>
          <p:cNvGraphicFramePr>
            <a:graphicFrameLocks noGrp="1"/>
          </p:cNvGraphicFramePr>
          <p:nvPr>
            <p:extLst>
              <p:ext uri="{D42A27DB-BD31-4B8C-83A1-F6EECF244321}">
                <p14:modId xmlns:p14="http://schemas.microsoft.com/office/powerpoint/2010/main" val="4082299567"/>
              </p:ext>
            </p:extLst>
          </p:nvPr>
        </p:nvGraphicFramePr>
        <p:xfrm>
          <a:off x="304800" y="4343400"/>
          <a:ext cx="6096000" cy="2194560"/>
        </p:xfrm>
        <a:graphic>
          <a:graphicData uri="http://schemas.openxmlformats.org/drawingml/2006/table">
            <a:tbl>
              <a:tblPr/>
              <a:tblGrid>
                <a:gridCol w="3048000"/>
                <a:gridCol w="3048000"/>
              </a:tblGrid>
              <a:tr h="0">
                <a:tc>
                  <a:txBody>
                    <a:bodyPr/>
                    <a:lstStyle/>
                    <a:p>
                      <a:r>
                        <a:rPr lang="en-US" b="1"/>
                        <a:t>Hydrogen Bond Example</a:t>
                      </a:r>
                      <a:endParaRPr lang="en-US"/>
                    </a:p>
                  </a:txBody>
                  <a:tcPr anchor="ctr">
                    <a:lnL>
                      <a:noFill/>
                    </a:lnL>
                    <a:lnR>
                      <a:noFill/>
                    </a:lnR>
                    <a:lnT>
                      <a:noFill/>
                    </a:lnT>
                    <a:lnB>
                      <a:noFill/>
                    </a:lnB>
                  </a:tcPr>
                </a:tc>
                <a:tc>
                  <a:txBody>
                    <a:bodyPr/>
                    <a:lstStyle/>
                    <a:p>
                      <a:r>
                        <a:rPr lang="en-US" b="1"/>
                        <a:t>Approx. Strength (kJ/mol)</a:t>
                      </a:r>
                      <a:endParaRPr lang="en-US"/>
                    </a:p>
                  </a:txBody>
                  <a:tcPr anchor="ctr">
                    <a:lnL>
                      <a:noFill/>
                    </a:lnL>
                    <a:lnR>
                      <a:noFill/>
                    </a:lnR>
                    <a:lnT>
                      <a:noFill/>
                    </a:lnT>
                    <a:lnB>
                      <a:noFill/>
                    </a:lnB>
                  </a:tcPr>
                </a:tc>
              </a:tr>
              <a:tr h="0">
                <a:tc>
                  <a:txBody>
                    <a:bodyPr/>
                    <a:lstStyle/>
                    <a:p>
                      <a:r>
                        <a:rPr lang="en-US" b="1"/>
                        <a:t>HF···HF</a:t>
                      </a:r>
                      <a:endParaRPr lang="en-US"/>
                    </a:p>
                  </a:txBody>
                  <a:tcPr anchor="ctr">
                    <a:lnL>
                      <a:noFill/>
                    </a:lnL>
                    <a:lnR>
                      <a:noFill/>
                    </a:lnR>
                    <a:lnT>
                      <a:noFill/>
                    </a:lnT>
                    <a:lnB>
                      <a:noFill/>
                    </a:lnB>
                  </a:tcPr>
                </a:tc>
                <a:tc>
                  <a:txBody>
                    <a:bodyPr/>
                    <a:lstStyle/>
                    <a:p>
                      <a:r>
                        <a:rPr lang="en-US"/>
                        <a:t>~35</a:t>
                      </a:r>
                    </a:p>
                  </a:txBody>
                  <a:tcPr anchor="ctr">
                    <a:lnL>
                      <a:noFill/>
                    </a:lnL>
                    <a:lnR>
                      <a:noFill/>
                    </a:lnR>
                    <a:lnT>
                      <a:noFill/>
                    </a:lnT>
                    <a:lnB>
                      <a:noFill/>
                    </a:lnB>
                  </a:tcPr>
                </a:tc>
              </a:tr>
              <a:tr h="0">
                <a:tc>
                  <a:txBody>
                    <a:bodyPr/>
                    <a:lstStyle/>
                    <a:p>
                      <a:r>
                        <a:rPr lang="en-US" b="1"/>
                        <a:t>H₂O···H₂O</a:t>
                      </a:r>
                      <a:endParaRPr lang="en-US"/>
                    </a:p>
                  </a:txBody>
                  <a:tcPr anchor="ctr">
                    <a:lnL>
                      <a:noFill/>
                    </a:lnL>
                    <a:lnR>
                      <a:noFill/>
                    </a:lnR>
                    <a:lnT>
                      <a:noFill/>
                    </a:lnT>
                    <a:lnB>
                      <a:noFill/>
                    </a:lnB>
                  </a:tcPr>
                </a:tc>
                <a:tc>
                  <a:txBody>
                    <a:bodyPr/>
                    <a:lstStyle/>
                    <a:p>
                      <a:r>
                        <a:rPr lang="en-US"/>
                        <a:t>~20</a:t>
                      </a:r>
                    </a:p>
                  </a:txBody>
                  <a:tcPr anchor="ctr">
                    <a:lnL>
                      <a:noFill/>
                    </a:lnL>
                    <a:lnR>
                      <a:noFill/>
                    </a:lnR>
                    <a:lnT>
                      <a:noFill/>
                    </a:lnT>
                    <a:lnB>
                      <a:noFill/>
                    </a:lnB>
                  </a:tcPr>
                </a:tc>
              </a:tr>
              <a:tr h="0">
                <a:tc>
                  <a:txBody>
                    <a:bodyPr/>
                    <a:lstStyle/>
                    <a:p>
                      <a:r>
                        <a:rPr lang="en-US" b="1"/>
                        <a:t>NH₃···NH₃</a:t>
                      </a:r>
                      <a:endParaRPr lang="en-US"/>
                    </a:p>
                  </a:txBody>
                  <a:tcPr anchor="ctr">
                    <a:lnL>
                      <a:noFill/>
                    </a:lnL>
                    <a:lnR>
                      <a:noFill/>
                    </a:lnR>
                    <a:lnT>
                      <a:noFill/>
                    </a:lnT>
                    <a:lnB>
                      <a:noFill/>
                    </a:lnB>
                  </a:tcPr>
                </a:tc>
                <a:tc>
                  <a:txBody>
                    <a:bodyPr/>
                    <a:lstStyle/>
                    <a:p>
                      <a:r>
                        <a:rPr lang="en-US"/>
                        <a:t>~16</a:t>
                      </a:r>
                    </a:p>
                  </a:txBody>
                  <a:tcPr anchor="ctr">
                    <a:lnL>
                      <a:noFill/>
                    </a:lnL>
                    <a:lnR>
                      <a:noFill/>
                    </a:lnR>
                    <a:lnT>
                      <a:noFill/>
                    </a:lnT>
                    <a:lnB>
                      <a:noFill/>
                    </a:lnB>
                  </a:tcPr>
                </a:tc>
              </a:tr>
              <a:tr h="0">
                <a:tc>
                  <a:txBody>
                    <a:bodyPr/>
                    <a:lstStyle/>
                    <a:p>
                      <a:r>
                        <a:rPr lang="en-US" b="1"/>
                        <a:t>DNA base pair (A–T)</a:t>
                      </a:r>
                      <a:endParaRPr lang="en-US"/>
                    </a:p>
                  </a:txBody>
                  <a:tcPr anchor="ctr">
                    <a:lnL>
                      <a:noFill/>
                    </a:lnL>
                    <a:lnR>
                      <a:noFill/>
                    </a:lnR>
                    <a:lnT>
                      <a:noFill/>
                    </a:lnT>
                    <a:lnB>
                      <a:noFill/>
                    </a:lnB>
                  </a:tcPr>
                </a:tc>
                <a:tc>
                  <a:txBody>
                    <a:bodyPr/>
                    <a:lstStyle/>
                    <a:p>
                      <a:r>
                        <a:rPr lang="en-US"/>
                        <a:t>~8 each (2 total)</a:t>
                      </a:r>
                    </a:p>
                  </a:txBody>
                  <a:tcPr anchor="ctr">
                    <a:lnL>
                      <a:noFill/>
                    </a:lnL>
                    <a:lnR>
                      <a:noFill/>
                    </a:lnR>
                    <a:lnT>
                      <a:noFill/>
                    </a:lnT>
                    <a:lnB>
                      <a:noFill/>
                    </a:lnB>
                  </a:tcPr>
                </a:tc>
              </a:tr>
              <a:tr h="0">
                <a:tc>
                  <a:txBody>
                    <a:bodyPr/>
                    <a:lstStyle/>
                    <a:p>
                      <a:r>
                        <a:rPr lang="en-US" b="1"/>
                        <a:t>DNA base pair (G–C)</a:t>
                      </a:r>
                      <a:endParaRPr lang="en-US"/>
                    </a:p>
                  </a:txBody>
                  <a:tcPr anchor="ctr">
                    <a:lnL>
                      <a:noFill/>
                    </a:lnL>
                    <a:lnR>
                      <a:noFill/>
                    </a:lnR>
                    <a:lnT>
                      <a:noFill/>
                    </a:lnT>
                    <a:lnB>
                      <a:noFill/>
                    </a:lnB>
                  </a:tcPr>
                </a:tc>
                <a:tc>
                  <a:txBody>
                    <a:bodyPr/>
                    <a:lstStyle/>
                    <a:p>
                      <a:r>
                        <a:rPr lang="en-US" dirty="0"/>
                        <a:t>~8 each (3 total)</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6008979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381" y="4313"/>
            <a:ext cx="4219425" cy="461665"/>
          </a:xfrm>
          <a:prstGeom prst="rect">
            <a:avLst/>
          </a:prstGeom>
        </p:spPr>
        <p:txBody>
          <a:bodyPr wrap="none">
            <a:spAutoFit/>
          </a:bodyPr>
          <a:lstStyle/>
          <a:p>
            <a:r>
              <a:rPr lang="en-US" sz="2400" b="1" dirty="0" smtClean="0">
                <a:solidFill>
                  <a:srgbClr val="FFC000"/>
                </a:solidFill>
              </a:rPr>
              <a:t>Impact </a:t>
            </a:r>
            <a:r>
              <a:rPr lang="en-US" sz="2400" b="1" dirty="0">
                <a:solidFill>
                  <a:srgbClr val="FFC000"/>
                </a:solidFill>
              </a:rPr>
              <a:t>on physical </a:t>
            </a:r>
            <a:r>
              <a:rPr lang="en-US" sz="2400" b="1" dirty="0" smtClean="0">
                <a:solidFill>
                  <a:srgbClr val="FFC000"/>
                </a:solidFill>
              </a:rPr>
              <a:t>property:</a:t>
            </a:r>
            <a:endParaRPr lang="en-US" sz="2400" b="1" dirty="0">
              <a:solidFill>
                <a:srgbClr val="FFC000"/>
              </a:solidFill>
            </a:endParaRPr>
          </a:p>
        </p:txBody>
      </p:sp>
      <p:sp>
        <p:nvSpPr>
          <p:cNvPr id="3" name="Rectangle 2"/>
          <p:cNvSpPr/>
          <p:nvPr/>
        </p:nvSpPr>
        <p:spPr>
          <a:xfrm>
            <a:off x="205596" y="487544"/>
            <a:ext cx="3674147" cy="400110"/>
          </a:xfrm>
          <a:prstGeom prst="rect">
            <a:avLst/>
          </a:prstGeom>
        </p:spPr>
        <p:txBody>
          <a:bodyPr wrap="none">
            <a:spAutoFit/>
          </a:bodyPr>
          <a:lstStyle/>
          <a:p>
            <a:r>
              <a:rPr lang="en-US" sz="2000" dirty="0" smtClean="0">
                <a:solidFill>
                  <a:srgbClr val="92D050"/>
                </a:solidFill>
              </a:rPr>
              <a:t>1.Melting </a:t>
            </a:r>
            <a:r>
              <a:rPr lang="en-US" sz="2000" dirty="0">
                <a:solidFill>
                  <a:srgbClr val="92D050"/>
                </a:solidFill>
              </a:rPr>
              <a:t>Point / Boiling </a:t>
            </a:r>
            <a:r>
              <a:rPr lang="en-US" sz="2000" dirty="0" smtClean="0">
                <a:solidFill>
                  <a:srgbClr val="92D050"/>
                </a:solidFill>
              </a:rPr>
              <a:t>Point:</a:t>
            </a:r>
            <a:endParaRPr lang="en-US" sz="2000" dirty="0">
              <a:solidFill>
                <a:srgbClr val="92D050"/>
              </a:solidFill>
            </a:endParaRPr>
          </a:p>
        </p:txBody>
      </p:sp>
      <p:sp>
        <p:nvSpPr>
          <p:cNvPr id="4" name="Rectangle 3"/>
          <p:cNvSpPr/>
          <p:nvPr/>
        </p:nvSpPr>
        <p:spPr>
          <a:xfrm>
            <a:off x="188343" y="887654"/>
            <a:ext cx="8534400" cy="2554545"/>
          </a:xfrm>
          <a:prstGeom prst="rect">
            <a:avLst/>
          </a:prstGeom>
        </p:spPr>
        <p:txBody>
          <a:bodyPr wrap="square">
            <a:spAutoFit/>
          </a:bodyPr>
          <a:lstStyle/>
          <a:p>
            <a:pPr algn="just"/>
            <a:r>
              <a:rPr lang="en-US" sz="2000" dirty="0"/>
              <a:t>Compounds containing hydrogen bonds—such as </a:t>
            </a:r>
            <a:r>
              <a:rPr lang="en-US" sz="2000" b="1" dirty="0"/>
              <a:t>NH₃, H₂O, and HF</a:t>
            </a:r>
            <a:r>
              <a:rPr lang="en-US" sz="2000" dirty="0"/>
              <a:t>, formed by elements </a:t>
            </a:r>
            <a:r>
              <a:rPr lang="en-US" sz="2000" b="1" dirty="0"/>
              <a:t>N, O, and F</a:t>
            </a:r>
            <a:r>
              <a:rPr lang="en-US" sz="2000" dirty="0"/>
              <a:t>—exhibit </a:t>
            </a:r>
            <a:r>
              <a:rPr lang="en-US" sz="2000" b="1" dirty="0"/>
              <a:t>boiling and melting points</a:t>
            </a:r>
            <a:r>
              <a:rPr lang="en-US" sz="2000" dirty="0"/>
              <a:t> that are significantly higher than other elements in their respective groups.</a:t>
            </a:r>
          </a:p>
          <a:p>
            <a:pPr algn="just"/>
            <a:r>
              <a:rPr lang="en-US" sz="2000" dirty="0"/>
              <a:t>Among them, </a:t>
            </a:r>
            <a:r>
              <a:rPr lang="en-US" sz="2000" b="1" dirty="0"/>
              <a:t>H₂O</a:t>
            </a:r>
            <a:r>
              <a:rPr lang="en-US" sz="2000" dirty="0"/>
              <a:t> forms the </a:t>
            </a:r>
            <a:r>
              <a:rPr lang="en-US" sz="2000" b="1" dirty="0"/>
              <a:t>strongest hydrogen bonds</a:t>
            </a:r>
            <a:r>
              <a:rPr lang="en-US" sz="2000" dirty="0"/>
              <a:t>, with the ability to form up to </a:t>
            </a:r>
            <a:r>
              <a:rPr lang="en-US" sz="2000" b="1" dirty="0"/>
              <a:t>four</a:t>
            </a:r>
            <a:r>
              <a:rPr lang="en-US" sz="2000" dirty="0"/>
              <a:t> per molecule. </a:t>
            </a:r>
            <a:r>
              <a:rPr lang="en-US" sz="2000" b="1" dirty="0"/>
              <a:t>NH₃</a:t>
            </a:r>
            <a:r>
              <a:rPr lang="en-US" sz="2000" dirty="0"/>
              <a:t> and </a:t>
            </a:r>
            <a:r>
              <a:rPr lang="en-US" sz="2000" b="1" dirty="0"/>
              <a:t>HF</a:t>
            </a:r>
            <a:r>
              <a:rPr lang="en-US" sz="2000" dirty="0"/>
              <a:t> follow, each forming </a:t>
            </a:r>
            <a:r>
              <a:rPr lang="en-US" sz="2000" b="1" dirty="0"/>
              <a:t>two hydrogen bonds</a:t>
            </a:r>
            <a:r>
              <a:rPr lang="en-US" sz="2000" dirty="0"/>
              <a:t>. As a result, </a:t>
            </a:r>
            <a:r>
              <a:rPr lang="en-US" sz="2000" b="1" dirty="0"/>
              <a:t>more energy is required</a:t>
            </a:r>
            <a:r>
              <a:rPr lang="en-US" sz="2000" dirty="0"/>
              <a:t> to overcome these interactions, explaining why </a:t>
            </a:r>
            <a:r>
              <a:rPr lang="en-US" sz="2000" b="1" dirty="0"/>
              <a:t>water boils at 100°C</a:t>
            </a:r>
            <a:r>
              <a:rPr lang="en-US" sz="2000" dirty="0"/>
              <a:t>, much higher than similar molecules without hydrogen bonding.</a:t>
            </a:r>
          </a:p>
        </p:txBody>
      </p:sp>
      <p:sp>
        <p:nvSpPr>
          <p:cNvPr id="5" name="Rectangle 4"/>
          <p:cNvSpPr/>
          <p:nvPr/>
        </p:nvSpPr>
        <p:spPr>
          <a:xfrm>
            <a:off x="305927" y="3429000"/>
            <a:ext cx="7582930" cy="1754326"/>
          </a:xfrm>
          <a:prstGeom prst="rect">
            <a:avLst/>
          </a:prstGeom>
        </p:spPr>
        <p:txBody>
          <a:bodyPr wrap="square">
            <a:spAutoFit/>
          </a:bodyPr>
          <a:lstStyle/>
          <a:p>
            <a:r>
              <a:rPr lang="en-US" b="1" dirty="0">
                <a:solidFill>
                  <a:srgbClr val="FF0000"/>
                </a:solidFill>
              </a:rPr>
              <a:t>✅ Examples</a:t>
            </a:r>
            <a:r>
              <a:rPr lang="en-US" b="1" dirty="0" smtClean="0">
                <a:solidFill>
                  <a:srgbClr val="FF0000"/>
                </a:solidFill>
              </a:rPr>
              <a:t>:</a:t>
            </a:r>
          </a:p>
          <a:p>
            <a:endParaRPr lang="en-US" b="1" dirty="0">
              <a:solidFill>
                <a:srgbClr val="FF0000"/>
              </a:solidFill>
            </a:endParaRPr>
          </a:p>
          <a:p>
            <a:pPr marL="285750" indent="-285750">
              <a:buFont typeface="Arial" pitchFamily="34" charset="0"/>
              <a:buChar char="•"/>
            </a:pPr>
            <a:r>
              <a:rPr lang="en-US" b="1" dirty="0"/>
              <a:t>Water (H₂O)</a:t>
            </a:r>
            <a:r>
              <a:rPr lang="en-US" dirty="0"/>
              <a:t> boils at </a:t>
            </a:r>
            <a:r>
              <a:rPr lang="en-US" b="1" dirty="0"/>
              <a:t>100°C</a:t>
            </a:r>
            <a:r>
              <a:rPr lang="en-US" dirty="0"/>
              <a:t>, while </a:t>
            </a:r>
            <a:r>
              <a:rPr lang="en-US" b="1" dirty="0"/>
              <a:t>H₂S</a:t>
            </a:r>
            <a:r>
              <a:rPr lang="en-US" dirty="0"/>
              <a:t> (which has no hydrogen bonding) boils at </a:t>
            </a:r>
            <a:r>
              <a:rPr lang="en-US" b="1" dirty="0"/>
              <a:t>–60°C</a:t>
            </a:r>
            <a:r>
              <a:rPr lang="en-US" dirty="0" smtClean="0"/>
              <a:t>.</a:t>
            </a:r>
          </a:p>
          <a:p>
            <a:endParaRPr lang="en-US" dirty="0"/>
          </a:p>
          <a:p>
            <a:pPr marL="285750" indent="-285750">
              <a:buFont typeface="Arial" pitchFamily="34" charset="0"/>
              <a:buChar char="•"/>
            </a:pPr>
            <a:r>
              <a:rPr lang="en-US" b="1" dirty="0"/>
              <a:t>HF</a:t>
            </a:r>
            <a:r>
              <a:rPr lang="en-US" dirty="0"/>
              <a:t> boils at 19.5°C, while </a:t>
            </a:r>
            <a:r>
              <a:rPr lang="en-US" b="1" dirty="0" err="1"/>
              <a:t>HCl</a:t>
            </a:r>
            <a:r>
              <a:rPr lang="en-US" dirty="0"/>
              <a:t> boils at –85°C.</a:t>
            </a:r>
          </a:p>
        </p:txBody>
      </p:sp>
      <p:sp>
        <p:nvSpPr>
          <p:cNvPr id="6" name="Rectangle 5"/>
          <p:cNvSpPr/>
          <p:nvPr/>
        </p:nvSpPr>
        <p:spPr>
          <a:xfrm>
            <a:off x="305926" y="5334000"/>
            <a:ext cx="7582931" cy="646331"/>
          </a:xfrm>
          <a:prstGeom prst="rect">
            <a:avLst/>
          </a:prstGeom>
        </p:spPr>
        <p:txBody>
          <a:bodyPr wrap="square">
            <a:spAutoFit/>
          </a:bodyPr>
          <a:lstStyle/>
          <a:p>
            <a:r>
              <a:rPr lang="en-US" dirty="0">
                <a:solidFill>
                  <a:srgbClr val="FFFF00"/>
                </a:solidFill>
              </a:rPr>
              <a:t>“Did you know? Water should boil at –80°C, but because of hydrogen bonding, it boils at 100°C!”</a:t>
            </a:r>
          </a:p>
        </p:txBody>
      </p:sp>
    </p:spTree>
    <p:extLst>
      <p:ext uri="{BB962C8B-B14F-4D97-AF65-F5344CB8AC3E}">
        <p14:creationId xmlns:p14="http://schemas.microsoft.com/office/powerpoint/2010/main" val="13415147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ag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968" y="908566"/>
            <a:ext cx="8534400" cy="54102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358347" y="228600"/>
            <a:ext cx="4495141" cy="461665"/>
          </a:xfrm>
          <a:prstGeom prst="rect">
            <a:avLst/>
          </a:prstGeom>
        </p:spPr>
        <p:txBody>
          <a:bodyPr wrap="none">
            <a:spAutoFit/>
          </a:bodyPr>
          <a:lstStyle/>
          <a:p>
            <a:r>
              <a:rPr lang="en-US" sz="2400" dirty="0">
                <a:solidFill>
                  <a:srgbClr val="FFFF00"/>
                </a:solidFill>
              </a:rPr>
              <a:t>boiling point graph of </a:t>
            </a:r>
            <a:r>
              <a:rPr lang="en-US" sz="2400" dirty="0" smtClean="0">
                <a:solidFill>
                  <a:srgbClr val="FFFF00"/>
                </a:solidFill>
              </a:rPr>
              <a:t>Hydride:</a:t>
            </a:r>
            <a:endParaRPr lang="en-US" sz="2400" dirty="0">
              <a:solidFill>
                <a:srgbClr val="FFFF00"/>
              </a:solidFill>
            </a:endParaRPr>
          </a:p>
        </p:txBody>
      </p:sp>
    </p:spTree>
    <p:extLst>
      <p:ext uri="{BB962C8B-B14F-4D97-AF65-F5344CB8AC3E}">
        <p14:creationId xmlns:p14="http://schemas.microsoft.com/office/powerpoint/2010/main" val="9022532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raw the Structure of ice. - Sarthaks eConnect | Largest Online Education  Communi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0" y="1219200"/>
            <a:ext cx="1866900" cy="2295526"/>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Three dimensional molecular structure for ice showing hydrogen atoms as...  | Download Scientific Diagram"/>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6" descr="Three dimensional molecular structure for ice showing hydrogen atoms as...  | Download Scientific Diagra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8" descr="Three dimensional molecular structure for ice showing hydrogen atoms as...  | Download Scientific Diagram"/>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65138"/>
            <a:ext cx="6626225" cy="5803872"/>
          </a:xfrm>
          <a:prstGeom prst="rect">
            <a:avLst/>
          </a:prstGeom>
        </p:spPr>
      </p:pic>
      <p:sp>
        <p:nvSpPr>
          <p:cNvPr id="6" name="Rectangle 5"/>
          <p:cNvSpPr/>
          <p:nvPr/>
        </p:nvSpPr>
        <p:spPr>
          <a:xfrm>
            <a:off x="6515158" y="3657600"/>
            <a:ext cx="2704984" cy="646331"/>
          </a:xfrm>
          <a:prstGeom prst="rect">
            <a:avLst/>
          </a:prstGeom>
        </p:spPr>
        <p:txBody>
          <a:bodyPr wrap="square">
            <a:spAutoFit/>
          </a:bodyPr>
          <a:lstStyle/>
          <a:p>
            <a:r>
              <a:rPr lang="en-US" b="1" dirty="0"/>
              <a:t>Tetrahedral Geometry</a:t>
            </a:r>
            <a:r>
              <a:rPr lang="en-US" dirty="0"/>
              <a:t> (Molecular Level)</a:t>
            </a:r>
          </a:p>
        </p:txBody>
      </p:sp>
      <p:sp>
        <p:nvSpPr>
          <p:cNvPr id="7" name="Rectangle 6"/>
          <p:cNvSpPr/>
          <p:nvPr/>
        </p:nvSpPr>
        <p:spPr>
          <a:xfrm>
            <a:off x="169430" y="6269010"/>
            <a:ext cx="6612370" cy="369332"/>
          </a:xfrm>
          <a:prstGeom prst="rect">
            <a:avLst/>
          </a:prstGeom>
        </p:spPr>
        <p:txBody>
          <a:bodyPr wrap="square">
            <a:spAutoFit/>
          </a:bodyPr>
          <a:lstStyle/>
          <a:p>
            <a:r>
              <a:rPr lang="en-US" b="1" dirty="0"/>
              <a:t>Hexagonal Structure (Macroscopic/Crystal Level)</a:t>
            </a:r>
          </a:p>
        </p:txBody>
      </p:sp>
      <p:sp>
        <p:nvSpPr>
          <p:cNvPr id="8" name="Rectangle 7"/>
          <p:cNvSpPr/>
          <p:nvPr/>
        </p:nvSpPr>
        <p:spPr>
          <a:xfrm>
            <a:off x="2621855" y="95806"/>
            <a:ext cx="1731564" cy="369332"/>
          </a:xfrm>
          <a:prstGeom prst="rect">
            <a:avLst/>
          </a:prstGeom>
        </p:spPr>
        <p:txBody>
          <a:bodyPr wrap="none">
            <a:spAutoFit/>
          </a:bodyPr>
          <a:lstStyle/>
          <a:p>
            <a:r>
              <a:rPr lang="en-US" dirty="0" smtClean="0"/>
              <a:t>Structure </a:t>
            </a:r>
            <a:r>
              <a:rPr lang="en-US" dirty="0"/>
              <a:t>of ice</a:t>
            </a:r>
          </a:p>
        </p:txBody>
      </p:sp>
    </p:spTree>
    <p:extLst>
      <p:ext uri="{BB962C8B-B14F-4D97-AF65-F5344CB8AC3E}">
        <p14:creationId xmlns:p14="http://schemas.microsoft.com/office/powerpoint/2010/main" val="28461002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3969998" cy="461665"/>
          </a:xfrm>
          <a:prstGeom prst="rect">
            <a:avLst/>
          </a:prstGeom>
        </p:spPr>
        <p:txBody>
          <a:bodyPr wrap="none">
            <a:spAutoFit/>
          </a:bodyPr>
          <a:lstStyle/>
          <a:p>
            <a:r>
              <a:rPr lang="en-US" sz="2400" dirty="0" smtClean="0">
                <a:solidFill>
                  <a:srgbClr val="FFFF00"/>
                </a:solidFill>
              </a:rPr>
              <a:t>2.Density </a:t>
            </a:r>
            <a:r>
              <a:rPr lang="en-US" sz="2400" dirty="0">
                <a:solidFill>
                  <a:srgbClr val="FFFF00"/>
                </a:solidFill>
              </a:rPr>
              <a:t>of </a:t>
            </a:r>
            <a:r>
              <a:rPr lang="en-US" sz="2400" dirty="0" smtClean="0">
                <a:solidFill>
                  <a:srgbClr val="FFFF00"/>
                </a:solidFill>
              </a:rPr>
              <a:t>Water and ICE:</a:t>
            </a:r>
            <a:endParaRPr lang="en-US" sz="2400" dirty="0">
              <a:solidFill>
                <a:srgbClr val="FFFF00"/>
              </a:solidFill>
            </a:endParaRPr>
          </a:p>
        </p:txBody>
      </p:sp>
      <p:pic>
        <p:nvPicPr>
          <p:cNvPr id="4098" name="Picture 2" descr="How to Ice Fish in Whistler - The Whistler Insid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838200"/>
            <a:ext cx="8229600" cy="38862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2378" y="4953000"/>
            <a:ext cx="8686800" cy="1631216"/>
          </a:xfrm>
          <a:prstGeom prst="rect">
            <a:avLst/>
          </a:prstGeom>
        </p:spPr>
        <p:txBody>
          <a:bodyPr wrap="square">
            <a:spAutoFit/>
          </a:bodyPr>
          <a:lstStyle/>
          <a:p>
            <a:r>
              <a:rPr lang="en-US" sz="2000" dirty="0"/>
              <a:t>Density of Water </a:t>
            </a:r>
            <a:r>
              <a:rPr lang="en-US" sz="2000" dirty="0" err="1"/>
              <a:t>Water</a:t>
            </a:r>
            <a:r>
              <a:rPr lang="en-US" sz="2000" dirty="0"/>
              <a:t> is unusual because its solid form (ice) is less dense than its liquid form, causing ice to float. This is due to the open, tetrahedral, hydrogen-bonded structure of ice, which contains large spaces. When ice melts, some hydrogen bonds break, allowing molecules to pack more compactly, leading to increased density up to 4°C</a:t>
            </a:r>
          </a:p>
        </p:txBody>
      </p:sp>
    </p:spTree>
    <p:extLst>
      <p:ext uri="{BB962C8B-B14F-4D97-AF65-F5344CB8AC3E}">
        <p14:creationId xmlns:p14="http://schemas.microsoft.com/office/powerpoint/2010/main" val="23377617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304800"/>
            <a:ext cx="4715137" cy="461665"/>
          </a:xfrm>
          <a:prstGeom prst="rect">
            <a:avLst/>
          </a:prstGeom>
        </p:spPr>
        <p:txBody>
          <a:bodyPr wrap="none">
            <a:spAutoFit/>
          </a:bodyPr>
          <a:lstStyle/>
          <a:p>
            <a:r>
              <a:rPr lang="en-US" sz="2400" b="1" dirty="0" smtClean="0">
                <a:solidFill>
                  <a:srgbClr val="FFC000"/>
                </a:solidFill>
              </a:rPr>
              <a:t>3.Viscosity </a:t>
            </a:r>
            <a:r>
              <a:rPr lang="en-US" sz="2400" b="1" dirty="0">
                <a:solidFill>
                  <a:srgbClr val="FFC000"/>
                </a:solidFill>
              </a:rPr>
              <a:t>and Surface Tension:</a:t>
            </a:r>
          </a:p>
        </p:txBody>
      </p:sp>
      <p:sp>
        <p:nvSpPr>
          <p:cNvPr id="3" name="Rectangle 2"/>
          <p:cNvSpPr/>
          <p:nvPr/>
        </p:nvSpPr>
        <p:spPr>
          <a:xfrm>
            <a:off x="174320" y="990600"/>
            <a:ext cx="8436280" cy="923330"/>
          </a:xfrm>
          <a:prstGeom prst="rect">
            <a:avLst/>
          </a:prstGeom>
        </p:spPr>
        <p:txBody>
          <a:bodyPr wrap="square">
            <a:spAutoFit/>
          </a:bodyPr>
          <a:lstStyle/>
          <a:p>
            <a:r>
              <a:rPr lang="en-US" dirty="0"/>
              <a:t>Liquids with extensive hydrogen bonding, such as water and glycerol, tend to have higher surface tension and viscosity due to the strong attractive forces between </a:t>
            </a:r>
            <a:r>
              <a:rPr lang="en-US" dirty="0" smtClean="0"/>
              <a:t>molecules.</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285531808"/>
              </p:ext>
            </p:extLst>
          </p:nvPr>
        </p:nvGraphicFramePr>
        <p:xfrm>
          <a:off x="990600" y="2286000"/>
          <a:ext cx="6096000" cy="3383280"/>
        </p:xfrm>
        <a:graphic>
          <a:graphicData uri="http://schemas.openxmlformats.org/drawingml/2006/table">
            <a:tbl>
              <a:tblPr/>
              <a:tblGrid>
                <a:gridCol w="2971800"/>
                <a:gridCol w="3124200"/>
              </a:tblGrid>
              <a:tr h="0">
                <a:tc>
                  <a:txBody>
                    <a:bodyPr/>
                    <a:lstStyle/>
                    <a:p>
                      <a:r>
                        <a:rPr lang="en-US" b="1" dirty="0">
                          <a:solidFill>
                            <a:srgbClr val="FFC000"/>
                          </a:solidFill>
                        </a:rPr>
                        <a:t>Property</a:t>
                      </a:r>
                    </a:p>
                  </a:txBody>
                  <a:tcPr anchor="ctr">
                    <a:lnL>
                      <a:noFill/>
                    </a:lnL>
                    <a:lnR>
                      <a:noFill/>
                    </a:lnR>
                    <a:lnT>
                      <a:noFill/>
                    </a:lnT>
                    <a:lnB>
                      <a:noFill/>
                    </a:lnB>
                  </a:tcPr>
                </a:tc>
                <a:tc>
                  <a:txBody>
                    <a:bodyPr/>
                    <a:lstStyle/>
                    <a:p>
                      <a:r>
                        <a:rPr lang="en-US" b="1" dirty="0">
                          <a:solidFill>
                            <a:srgbClr val="FFC000"/>
                          </a:solidFill>
                        </a:rPr>
                        <a:t>Effect of Hydrogen Bonding</a:t>
                      </a:r>
                      <a:endParaRPr lang="en-US" dirty="0">
                        <a:solidFill>
                          <a:srgbClr val="FFC000"/>
                        </a:solidFill>
                      </a:endParaRPr>
                    </a:p>
                  </a:txBody>
                  <a:tcPr anchor="ctr">
                    <a:lnL>
                      <a:noFill/>
                    </a:lnL>
                    <a:lnR>
                      <a:noFill/>
                    </a:lnR>
                    <a:lnT>
                      <a:noFill/>
                    </a:lnT>
                    <a:lnB>
                      <a:noFill/>
                    </a:lnB>
                  </a:tcPr>
                </a:tc>
              </a:tr>
              <a:tr h="0">
                <a:tc>
                  <a:txBody>
                    <a:bodyPr/>
                    <a:lstStyle/>
                    <a:p>
                      <a:r>
                        <a:rPr lang="en-US"/>
                        <a:t>Boiling Point</a:t>
                      </a:r>
                    </a:p>
                  </a:txBody>
                  <a:tcPr anchor="ctr">
                    <a:lnL>
                      <a:noFill/>
                    </a:lnL>
                    <a:lnR>
                      <a:noFill/>
                    </a:lnR>
                    <a:lnT>
                      <a:noFill/>
                    </a:lnT>
                    <a:lnB>
                      <a:noFill/>
                    </a:lnB>
                  </a:tcPr>
                </a:tc>
                <a:tc>
                  <a:txBody>
                    <a:bodyPr/>
                    <a:lstStyle/>
                    <a:p>
                      <a:r>
                        <a:rPr lang="en-US"/>
                        <a:t>Increases</a:t>
                      </a:r>
                    </a:p>
                  </a:txBody>
                  <a:tcPr anchor="ctr">
                    <a:lnL>
                      <a:noFill/>
                    </a:lnL>
                    <a:lnR>
                      <a:noFill/>
                    </a:lnR>
                    <a:lnT>
                      <a:noFill/>
                    </a:lnT>
                    <a:lnB>
                      <a:noFill/>
                    </a:lnB>
                  </a:tcPr>
                </a:tc>
              </a:tr>
              <a:tr h="0">
                <a:tc>
                  <a:txBody>
                    <a:bodyPr/>
                    <a:lstStyle/>
                    <a:p>
                      <a:r>
                        <a:rPr lang="en-US"/>
                        <a:t>Melting Point</a:t>
                      </a:r>
                    </a:p>
                  </a:txBody>
                  <a:tcPr anchor="ctr">
                    <a:lnL>
                      <a:noFill/>
                    </a:lnL>
                    <a:lnR>
                      <a:noFill/>
                    </a:lnR>
                    <a:lnT>
                      <a:noFill/>
                    </a:lnT>
                    <a:lnB>
                      <a:noFill/>
                    </a:lnB>
                  </a:tcPr>
                </a:tc>
                <a:tc>
                  <a:txBody>
                    <a:bodyPr/>
                    <a:lstStyle/>
                    <a:p>
                      <a:r>
                        <a:rPr lang="en-US"/>
                        <a:t>Increases</a:t>
                      </a:r>
                    </a:p>
                  </a:txBody>
                  <a:tcPr anchor="ctr">
                    <a:lnL>
                      <a:noFill/>
                    </a:lnL>
                    <a:lnR>
                      <a:noFill/>
                    </a:lnR>
                    <a:lnT>
                      <a:noFill/>
                    </a:lnT>
                    <a:lnB>
                      <a:noFill/>
                    </a:lnB>
                  </a:tcPr>
                </a:tc>
              </a:tr>
              <a:tr h="0">
                <a:tc>
                  <a:txBody>
                    <a:bodyPr/>
                    <a:lstStyle/>
                    <a:p>
                      <a:r>
                        <a:rPr lang="en-US"/>
                        <a:t>Surface Tension</a:t>
                      </a:r>
                    </a:p>
                  </a:txBody>
                  <a:tcPr anchor="ctr">
                    <a:lnL>
                      <a:noFill/>
                    </a:lnL>
                    <a:lnR>
                      <a:noFill/>
                    </a:lnR>
                    <a:lnT>
                      <a:noFill/>
                    </a:lnT>
                    <a:lnB>
                      <a:noFill/>
                    </a:lnB>
                  </a:tcPr>
                </a:tc>
                <a:tc>
                  <a:txBody>
                    <a:bodyPr/>
                    <a:lstStyle/>
                    <a:p>
                      <a:r>
                        <a:rPr lang="en-US"/>
                        <a:t>Increases</a:t>
                      </a:r>
                    </a:p>
                  </a:txBody>
                  <a:tcPr anchor="ctr">
                    <a:lnL>
                      <a:noFill/>
                    </a:lnL>
                    <a:lnR>
                      <a:noFill/>
                    </a:lnR>
                    <a:lnT>
                      <a:noFill/>
                    </a:lnT>
                    <a:lnB>
                      <a:noFill/>
                    </a:lnB>
                  </a:tcPr>
                </a:tc>
              </a:tr>
              <a:tr h="0">
                <a:tc>
                  <a:txBody>
                    <a:bodyPr/>
                    <a:lstStyle/>
                    <a:p>
                      <a:r>
                        <a:rPr lang="en-US" dirty="0"/>
                        <a:t>Viscosity</a:t>
                      </a:r>
                    </a:p>
                  </a:txBody>
                  <a:tcPr anchor="ctr">
                    <a:lnL>
                      <a:noFill/>
                    </a:lnL>
                    <a:lnR>
                      <a:noFill/>
                    </a:lnR>
                    <a:lnT>
                      <a:noFill/>
                    </a:lnT>
                    <a:lnB>
                      <a:noFill/>
                    </a:lnB>
                  </a:tcPr>
                </a:tc>
                <a:tc>
                  <a:txBody>
                    <a:bodyPr/>
                    <a:lstStyle/>
                    <a:p>
                      <a:r>
                        <a:rPr lang="en-US"/>
                        <a:t>Increases</a:t>
                      </a:r>
                    </a:p>
                  </a:txBody>
                  <a:tcPr anchor="ctr">
                    <a:lnL>
                      <a:noFill/>
                    </a:lnL>
                    <a:lnR>
                      <a:noFill/>
                    </a:lnR>
                    <a:lnT>
                      <a:noFill/>
                    </a:lnT>
                    <a:lnB>
                      <a:noFill/>
                    </a:lnB>
                  </a:tcPr>
                </a:tc>
              </a:tr>
              <a:tr h="0">
                <a:tc>
                  <a:txBody>
                    <a:bodyPr/>
                    <a:lstStyle/>
                    <a:p>
                      <a:r>
                        <a:rPr lang="en-US"/>
                        <a:t>Solubility in Water</a:t>
                      </a:r>
                    </a:p>
                  </a:txBody>
                  <a:tcPr anchor="ctr">
                    <a:lnL>
                      <a:noFill/>
                    </a:lnL>
                    <a:lnR>
                      <a:noFill/>
                    </a:lnR>
                    <a:lnT>
                      <a:noFill/>
                    </a:lnT>
                    <a:lnB>
                      <a:noFill/>
                    </a:lnB>
                  </a:tcPr>
                </a:tc>
                <a:tc>
                  <a:txBody>
                    <a:bodyPr/>
                    <a:lstStyle/>
                    <a:p>
                      <a:r>
                        <a:rPr lang="en-US"/>
                        <a:t>Increases for polar molecules</a:t>
                      </a:r>
                    </a:p>
                  </a:txBody>
                  <a:tcPr anchor="ctr">
                    <a:lnL>
                      <a:noFill/>
                    </a:lnL>
                    <a:lnR>
                      <a:noFill/>
                    </a:lnR>
                    <a:lnT>
                      <a:noFill/>
                    </a:lnT>
                    <a:lnB>
                      <a:noFill/>
                    </a:lnB>
                  </a:tcPr>
                </a:tc>
              </a:tr>
              <a:tr h="0">
                <a:tc>
                  <a:txBody>
                    <a:bodyPr/>
                    <a:lstStyle/>
                    <a:p>
                      <a:r>
                        <a:rPr lang="en-US"/>
                        <a:t>Density (Ice vs Water)</a:t>
                      </a:r>
                    </a:p>
                  </a:txBody>
                  <a:tcPr anchor="ctr">
                    <a:lnL>
                      <a:noFill/>
                    </a:lnL>
                    <a:lnR>
                      <a:noFill/>
                    </a:lnR>
                    <a:lnT>
                      <a:noFill/>
                    </a:lnT>
                    <a:lnB>
                      <a:noFill/>
                    </a:lnB>
                  </a:tcPr>
                </a:tc>
                <a:tc>
                  <a:txBody>
                    <a:bodyPr/>
                    <a:lstStyle/>
                    <a:p>
                      <a:r>
                        <a:rPr lang="en-US" dirty="0"/>
                        <a:t>Ice is less dense (due to H-bond network)</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33520591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0400" y="304800"/>
            <a:ext cx="2289409" cy="523220"/>
          </a:xfrm>
          <a:prstGeom prst="rect">
            <a:avLst/>
          </a:prstGeom>
        </p:spPr>
        <p:txBody>
          <a:bodyPr wrap="none">
            <a:spAutoFit/>
          </a:bodyPr>
          <a:lstStyle/>
          <a:p>
            <a:r>
              <a:rPr lang="en-US" sz="2800" b="1" u="sng" dirty="0" smtClean="0">
                <a:solidFill>
                  <a:srgbClr val="FFC000"/>
                </a:solidFill>
              </a:rPr>
              <a:t>Dipole Bond</a:t>
            </a:r>
            <a:endParaRPr lang="en-US" sz="2800" b="1" u="sng" dirty="0">
              <a:solidFill>
                <a:srgbClr val="FFC000"/>
              </a:solidFill>
            </a:endParaRPr>
          </a:p>
        </p:txBody>
      </p:sp>
      <p:sp>
        <p:nvSpPr>
          <p:cNvPr id="5" name="Rectangle 4"/>
          <p:cNvSpPr/>
          <p:nvPr/>
        </p:nvSpPr>
        <p:spPr>
          <a:xfrm>
            <a:off x="381000" y="990600"/>
            <a:ext cx="8458200" cy="1015663"/>
          </a:xfrm>
          <a:prstGeom prst="rect">
            <a:avLst/>
          </a:prstGeom>
        </p:spPr>
        <p:txBody>
          <a:bodyPr wrap="square">
            <a:spAutoFit/>
          </a:bodyPr>
          <a:lstStyle/>
          <a:p>
            <a:pPr algn="just"/>
            <a:r>
              <a:rPr lang="en-US" sz="2000" dirty="0" smtClean="0"/>
              <a:t>The term </a:t>
            </a:r>
            <a:r>
              <a:rPr lang="en-US" sz="2000" dirty="0"/>
              <a:t>"dipole bond" generally refers to the concepts of polar bonds and dipole moments within molecules, </a:t>
            </a:r>
            <a:r>
              <a:rPr lang="en-US" sz="2000" dirty="0" smtClean="0"/>
              <a:t>which are crucial </a:t>
            </a:r>
            <a:r>
              <a:rPr lang="en-US" sz="2000" dirty="0"/>
              <a:t>for understanding chemical properties and intermolecular </a:t>
            </a:r>
            <a:r>
              <a:rPr lang="en-US" sz="2000" dirty="0" smtClean="0"/>
              <a:t>interactions.</a:t>
            </a:r>
            <a:endParaRPr lang="en-US" sz="2000" dirty="0"/>
          </a:p>
        </p:txBody>
      </p:sp>
      <p:sp>
        <p:nvSpPr>
          <p:cNvPr id="6" name="Rectangle 5"/>
          <p:cNvSpPr/>
          <p:nvPr/>
        </p:nvSpPr>
        <p:spPr>
          <a:xfrm>
            <a:off x="228600" y="2209800"/>
            <a:ext cx="2113079" cy="523220"/>
          </a:xfrm>
          <a:prstGeom prst="rect">
            <a:avLst/>
          </a:prstGeom>
        </p:spPr>
        <p:txBody>
          <a:bodyPr wrap="none">
            <a:spAutoFit/>
          </a:bodyPr>
          <a:lstStyle/>
          <a:p>
            <a:r>
              <a:rPr lang="en-US" sz="2800" dirty="0">
                <a:solidFill>
                  <a:srgbClr val="FFFF00"/>
                </a:solidFill>
              </a:rPr>
              <a:t>polar </a:t>
            </a:r>
            <a:r>
              <a:rPr lang="en-US" sz="2800" dirty="0" smtClean="0">
                <a:solidFill>
                  <a:srgbClr val="FFFF00"/>
                </a:solidFill>
              </a:rPr>
              <a:t>bond: </a:t>
            </a:r>
            <a:endParaRPr lang="en-US" sz="2800" dirty="0">
              <a:solidFill>
                <a:srgbClr val="FFFF00"/>
              </a:solidFill>
            </a:endParaRPr>
          </a:p>
        </p:txBody>
      </p:sp>
      <p:sp>
        <p:nvSpPr>
          <p:cNvPr id="7" name="Rectangle 6"/>
          <p:cNvSpPr/>
          <p:nvPr/>
        </p:nvSpPr>
        <p:spPr>
          <a:xfrm>
            <a:off x="381000" y="2742291"/>
            <a:ext cx="8001000" cy="2246769"/>
          </a:xfrm>
          <a:prstGeom prst="rect">
            <a:avLst/>
          </a:prstGeom>
        </p:spPr>
        <p:txBody>
          <a:bodyPr wrap="square">
            <a:spAutoFit/>
          </a:bodyPr>
          <a:lstStyle/>
          <a:p>
            <a:pPr algn="just"/>
            <a:r>
              <a:rPr lang="en-US" sz="2000" dirty="0"/>
              <a:t>A polar bond forms between two atoms when there is an asymmetrical distribution of charge. This occurs when the atoms have different </a:t>
            </a:r>
            <a:r>
              <a:rPr lang="en-US" sz="2000" dirty="0" err="1"/>
              <a:t>electronegativities</a:t>
            </a:r>
            <a:r>
              <a:rPr lang="en-US" sz="2000" dirty="0"/>
              <a:t>, meaning one atom has a greater ability to attract electrons in the bond than the other. The electrons in the bond are drawn closer to the more electronegative atom, resulting in that atom gaining a partial negative charge (8), and the other atom gaining a partial positive charge (8").</a:t>
            </a:r>
          </a:p>
        </p:txBody>
      </p:sp>
      <p:sp>
        <p:nvSpPr>
          <p:cNvPr id="8" name="Rectangle 7"/>
          <p:cNvSpPr/>
          <p:nvPr/>
        </p:nvSpPr>
        <p:spPr>
          <a:xfrm>
            <a:off x="184375" y="4997411"/>
            <a:ext cx="2783134" cy="523220"/>
          </a:xfrm>
          <a:prstGeom prst="rect">
            <a:avLst/>
          </a:prstGeom>
        </p:spPr>
        <p:txBody>
          <a:bodyPr wrap="none">
            <a:spAutoFit/>
          </a:bodyPr>
          <a:lstStyle/>
          <a:p>
            <a:r>
              <a:rPr lang="en-US" sz="2800" dirty="0" smtClean="0">
                <a:solidFill>
                  <a:srgbClr val="92D050"/>
                </a:solidFill>
              </a:rPr>
              <a:t>Dipole Moment:</a:t>
            </a:r>
            <a:endParaRPr lang="en-US" sz="2800" dirty="0">
              <a:solidFill>
                <a:srgbClr val="92D050"/>
              </a:solidFill>
            </a:endParaRPr>
          </a:p>
        </p:txBody>
      </p:sp>
      <p:sp>
        <p:nvSpPr>
          <p:cNvPr id="9" name="Rectangle 8"/>
          <p:cNvSpPr/>
          <p:nvPr/>
        </p:nvSpPr>
        <p:spPr>
          <a:xfrm>
            <a:off x="228600" y="5533250"/>
            <a:ext cx="3490058" cy="400110"/>
          </a:xfrm>
          <a:prstGeom prst="rect">
            <a:avLst/>
          </a:prstGeom>
        </p:spPr>
        <p:txBody>
          <a:bodyPr wrap="none">
            <a:spAutoFit/>
          </a:bodyPr>
          <a:lstStyle/>
          <a:p>
            <a:r>
              <a:rPr lang="en-US" sz="2000" dirty="0">
                <a:solidFill>
                  <a:srgbClr val="FFFF00"/>
                </a:solidFill>
              </a:rPr>
              <a:t>⚡ What is </a:t>
            </a:r>
            <a:r>
              <a:rPr lang="en-US" sz="2000" b="1" dirty="0">
                <a:solidFill>
                  <a:srgbClr val="FFFF00"/>
                </a:solidFill>
              </a:rPr>
              <a:t>Dipole Moment</a:t>
            </a:r>
            <a:r>
              <a:rPr lang="en-US" sz="2000" dirty="0">
                <a:solidFill>
                  <a:srgbClr val="FFFF00"/>
                </a:solidFill>
              </a:rPr>
              <a:t>?</a:t>
            </a:r>
          </a:p>
        </p:txBody>
      </p:sp>
      <p:sp>
        <p:nvSpPr>
          <p:cNvPr id="10" name="Rectangle 9"/>
          <p:cNvSpPr/>
          <p:nvPr/>
        </p:nvSpPr>
        <p:spPr>
          <a:xfrm>
            <a:off x="315760" y="5933360"/>
            <a:ext cx="7685240" cy="646331"/>
          </a:xfrm>
          <a:prstGeom prst="rect">
            <a:avLst/>
          </a:prstGeom>
        </p:spPr>
        <p:txBody>
          <a:bodyPr wrap="square">
            <a:spAutoFit/>
          </a:bodyPr>
          <a:lstStyle/>
          <a:p>
            <a:r>
              <a:rPr lang="en-US" dirty="0"/>
              <a:t>A </a:t>
            </a:r>
            <a:r>
              <a:rPr lang="en-US" b="1" dirty="0"/>
              <a:t>dipole moment</a:t>
            </a:r>
            <a:r>
              <a:rPr lang="en-US" dirty="0"/>
              <a:t> is a </a:t>
            </a:r>
            <a:r>
              <a:rPr lang="en-US" b="1" dirty="0"/>
              <a:t>measure of the separation of positive and negative charges</a:t>
            </a:r>
            <a:r>
              <a:rPr lang="en-US" dirty="0"/>
              <a:t> in a molecule or bond. </a:t>
            </a:r>
          </a:p>
        </p:txBody>
      </p:sp>
    </p:spTree>
    <p:extLst>
      <p:ext uri="{BB962C8B-B14F-4D97-AF65-F5344CB8AC3E}">
        <p14:creationId xmlns:p14="http://schemas.microsoft.com/office/powerpoint/2010/main" val="32124967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6188"/>
            <a:ext cx="5238935" cy="461665"/>
          </a:xfrm>
          <a:prstGeom prst="rect">
            <a:avLst/>
          </a:prstGeom>
        </p:spPr>
        <p:txBody>
          <a:bodyPr wrap="none">
            <a:spAutoFit/>
          </a:bodyPr>
          <a:lstStyle/>
          <a:p>
            <a:r>
              <a:rPr lang="en-US" sz="2400" b="1" dirty="0">
                <a:solidFill>
                  <a:srgbClr val="FFFF00"/>
                </a:solidFill>
              </a:rPr>
              <a:t>Important </a:t>
            </a:r>
            <a:r>
              <a:rPr lang="en-US" sz="2400" b="1" dirty="0" smtClean="0">
                <a:solidFill>
                  <a:srgbClr val="FFFF00"/>
                </a:solidFill>
              </a:rPr>
              <a:t>Points of dipole moment:</a:t>
            </a:r>
            <a:endParaRPr lang="en-US" sz="2400" b="1" dirty="0">
              <a:solidFill>
                <a:srgbClr val="FFFF00"/>
              </a:solidFill>
            </a:endParaRPr>
          </a:p>
        </p:txBody>
      </p:sp>
      <p:sp>
        <p:nvSpPr>
          <p:cNvPr id="4" name="Rectangle 3"/>
          <p:cNvSpPr/>
          <p:nvPr/>
        </p:nvSpPr>
        <p:spPr>
          <a:xfrm>
            <a:off x="339245" y="498674"/>
            <a:ext cx="8499955" cy="400110"/>
          </a:xfrm>
          <a:prstGeom prst="rect">
            <a:avLst/>
          </a:prstGeom>
        </p:spPr>
        <p:txBody>
          <a:bodyPr wrap="square">
            <a:spAutoFit/>
          </a:bodyPr>
          <a:lstStyle/>
          <a:p>
            <a:r>
              <a:rPr lang="en-US" sz="2000" dirty="0" smtClean="0"/>
              <a:t> </a:t>
            </a:r>
            <a:endParaRPr lang="en-US"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78840"/>
            <a:ext cx="7848600" cy="6074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17050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457200"/>
            <a:ext cx="3167855" cy="400110"/>
          </a:xfrm>
          <a:prstGeom prst="rect">
            <a:avLst/>
          </a:prstGeom>
        </p:spPr>
        <p:txBody>
          <a:bodyPr wrap="none">
            <a:spAutoFit/>
          </a:bodyPr>
          <a:lstStyle/>
          <a:p>
            <a:r>
              <a:rPr lang="en-US" sz="2000" b="1" dirty="0">
                <a:solidFill>
                  <a:srgbClr val="92D050"/>
                </a:solidFill>
              </a:rPr>
              <a:t>Dipole Moment </a:t>
            </a:r>
            <a:r>
              <a:rPr lang="en-US" sz="2000" b="1" dirty="0" smtClean="0">
                <a:solidFill>
                  <a:srgbClr val="92D050"/>
                </a:solidFill>
              </a:rPr>
              <a:t>Formula:</a:t>
            </a:r>
            <a:endParaRPr lang="en-US" sz="2000" b="1" dirty="0">
              <a:solidFill>
                <a:srgbClr val="92D050"/>
              </a:solidFill>
            </a:endParaRPr>
          </a:p>
        </p:txBody>
      </p:sp>
      <p:sp>
        <p:nvSpPr>
          <p:cNvPr id="3" name="Rectangle 2"/>
          <p:cNvSpPr/>
          <p:nvPr/>
        </p:nvSpPr>
        <p:spPr>
          <a:xfrm>
            <a:off x="381000" y="1066800"/>
            <a:ext cx="7772400" cy="923330"/>
          </a:xfrm>
          <a:prstGeom prst="rect">
            <a:avLst/>
          </a:prstGeom>
        </p:spPr>
        <p:txBody>
          <a:bodyPr wrap="square">
            <a:spAutoFit/>
          </a:bodyPr>
          <a:lstStyle/>
          <a:p>
            <a:r>
              <a:rPr lang="en-US" dirty="0"/>
              <a:t>A dipole moment is the product of the magnitude of the charge and the distance between the centers of the positive and negative charges. It is denoted by the Greek letter ‘µ’.</a:t>
            </a:r>
          </a:p>
        </p:txBody>
      </p:sp>
      <p:sp>
        <p:nvSpPr>
          <p:cNvPr id="4" name="Rectangle 3"/>
          <p:cNvSpPr/>
          <p:nvPr/>
        </p:nvSpPr>
        <p:spPr>
          <a:xfrm>
            <a:off x="228600" y="2286000"/>
            <a:ext cx="1875513" cy="369332"/>
          </a:xfrm>
          <a:prstGeom prst="rect">
            <a:avLst/>
          </a:prstGeom>
        </p:spPr>
        <p:txBody>
          <a:bodyPr wrap="none">
            <a:spAutoFit/>
          </a:bodyPr>
          <a:lstStyle/>
          <a:p>
            <a:r>
              <a:rPr lang="en-US" b="1" dirty="0"/>
              <a:t>Mathematically,</a:t>
            </a:r>
          </a:p>
        </p:txBody>
      </p:sp>
      <p:sp>
        <p:nvSpPr>
          <p:cNvPr id="6" name="AutoShape 4" descr="Dipole Mome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2655332"/>
            <a:ext cx="7010400" cy="3440668"/>
          </a:xfrm>
          <a:prstGeom prst="rect">
            <a:avLst/>
          </a:prstGeom>
        </p:spPr>
      </p:pic>
    </p:spTree>
    <p:extLst>
      <p:ext uri="{BB962C8B-B14F-4D97-AF65-F5344CB8AC3E}">
        <p14:creationId xmlns:p14="http://schemas.microsoft.com/office/powerpoint/2010/main" val="38228914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304800"/>
            <a:ext cx="8001000" cy="1569660"/>
          </a:xfrm>
          <a:prstGeom prst="rect">
            <a:avLst/>
          </a:prstGeom>
        </p:spPr>
        <p:txBody>
          <a:bodyPr wrap="square">
            <a:spAutoFit/>
          </a:bodyPr>
          <a:lstStyle/>
          <a:p>
            <a:r>
              <a:rPr lang="en-US" sz="2400" dirty="0"/>
              <a:t>It is measured in Debye units denoted by ‘D’. 1 D = 3.33564 × 10</a:t>
            </a:r>
            <a:r>
              <a:rPr lang="en-US" sz="2400" baseline="30000" dirty="0"/>
              <a:t>-30</a:t>
            </a:r>
            <a:r>
              <a:rPr lang="en-US" sz="2400" dirty="0"/>
              <a:t> </a:t>
            </a:r>
            <a:r>
              <a:rPr lang="en-US" sz="2400" dirty="0" err="1"/>
              <a:t>C.m</a:t>
            </a:r>
            <a:r>
              <a:rPr lang="en-US" sz="2400" dirty="0"/>
              <a:t>, where C is Coulomb and m denotes a </a:t>
            </a:r>
            <a:r>
              <a:rPr lang="en-US" sz="2400" dirty="0" err="1"/>
              <a:t>metre</a:t>
            </a:r>
            <a:r>
              <a:rPr lang="en-US" sz="2400" dirty="0" smtClean="0"/>
              <a:t>.</a:t>
            </a:r>
          </a:p>
          <a:p>
            <a:r>
              <a:rPr lang="en-US" sz="2400" dirty="0" smtClean="0">
                <a:solidFill>
                  <a:srgbClr val="92D050"/>
                </a:solidFill>
              </a:rPr>
              <a:t>Example:</a:t>
            </a:r>
            <a:endParaRPr lang="en-US" sz="2400" dirty="0">
              <a:solidFill>
                <a:srgbClr val="92D050"/>
              </a:solidFill>
            </a:endParaRPr>
          </a:p>
        </p:txBody>
      </p:sp>
      <p:pic>
        <p:nvPicPr>
          <p:cNvPr id="3073"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828800"/>
            <a:ext cx="81534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572392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457200"/>
            <a:ext cx="8001000" cy="599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462632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04800"/>
            <a:ext cx="4038600" cy="461665"/>
          </a:xfrm>
          <a:prstGeom prst="rect">
            <a:avLst/>
          </a:prstGeom>
        </p:spPr>
        <p:txBody>
          <a:bodyPr wrap="square">
            <a:spAutoFit/>
          </a:bodyPr>
          <a:lstStyle/>
          <a:p>
            <a:r>
              <a:rPr lang="en-US" sz="2400" b="1" u="sng" dirty="0">
                <a:solidFill>
                  <a:srgbClr val="FFFF00"/>
                </a:solidFill>
              </a:rPr>
              <a:t>Van der Waals </a:t>
            </a:r>
            <a:r>
              <a:rPr lang="en-US" sz="2400" b="1" u="sng" dirty="0" smtClean="0">
                <a:solidFill>
                  <a:srgbClr val="FFFF00"/>
                </a:solidFill>
              </a:rPr>
              <a:t>Forces:</a:t>
            </a:r>
            <a:endParaRPr lang="en-US" sz="2400" b="1" u="sng" dirty="0">
              <a:solidFill>
                <a:srgbClr val="FFFF00"/>
              </a:solidFill>
            </a:endParaRPr>
          </a:p>
        </p:txBody>
      </p:sp>
      <p:sp>
        <p:nvSpPr>
          <p:cNvPr id="3" name="Rectangle 2"/>
          <p:cNvSpPr/>
          <p:nvPr/>
        </p:nvSpPr>
        <p:spPr>
          <a:xfrm>
            <a:off x="288098" y="1066800"/>
            <a:ext cx="8703501" cy="2246769"/>
          </a:xfrm>
          <a:prstGeom prst="rect">
            <a:avLst/>
          </a:prstGeom>
        </p:spPr>
        <p:txBody>
          <a:bodyPr wrap="square">
            <a:spAutoFit/>
          </a:bodyPr>
          <a:lstStyle/>
          <a:p>
            <a:pPr algn="just"/>
            <a:r>
              <a:rPr lang="en-US" sz="2000" dirty="0"/>
              <a:t>Van der Waals forces are a collective term for intermolecular forces that include dipole-dipole forces, dipole-induced dipole forces, and London (dispersion) forces. These forces are generally weak attractive interactions between molecules. Unlike the strong forces holding atoms together within a molecule (</a:t>
            </a:r>
            <a:r>
              <a:rPr lang="en-US" sz="2000" dirty="0" err="1"/>
              <a:t>intramolecular</a:t>
            </a:r>
            <a:r>
              <a:rPr lang="en-US" sz="2000" dirty="0"/>
              <a:t> forces, such as covalent or ionic bonds), van der Waals forces operate between molecules and are crucial for understanding the properties of liquids and solids.</a:t>
            </a:r>
          </a:p>
        </p:txBody>
      </p:sp>
      <p:sp>
        <p:nvSpPr>
          <p:cNvPr id="4" name="Rectangle 3"/>
          <p:cNvSpPr/>
          <p:nvPr/>
        </p:nvSpPr>
        <p:spPr>
          <a:xfrm>
            <a:off x="288098" y="3613666"/>
            <a:ext cx="2760692" cy="400110"/>
          </a:xfrm>
          <a:prstGeom prst="rect">
            <a:avLst/>
          </a:prstGeom>
        </p:spPr>
        <p:txBody>
          <a:bodyPr wrap="none">
            <a:spAutoFit/>
          </a:bodyPr>
          <a:lstStyle/>
          <a:p>
            <a:r>
              <a:rPr lang="en-US" sz="2000" b="1" dirty="0">
                <a:solidFill>
                  <a:srgbClr val="92D050"/>
                </a:solidFill>
              </a:rPr>
              <a:t>Dipole-Dipole </a:t>
            </a:r>
            <a:r>
              <a:rPr lang="en-US" sz="2000" b="1" dirty="0" smtClean="0">
                <a:solidFill>
                  <a:srgbClr val="92D050"/>
                </a:solidFill>
              </a:rPr>
              <a:t>Forces:</a:t>
            </a:r>
            <a:endParaRPr lang="en-US" sz="2000" dirty="0">
              <a:solidFill>
                <a:srgbClr val="92D050"/>
              </a:solidFill>
            </a:endParaRPr>
          </a:p>
        </p:txBody>
      </p:sp>
      <p:sp>
        <p:nvSpPr>
          <p:cNvPr id="5" name="Rectangle 4"/>
          <p:cNvSpPr/>
          <p:nvPr/>
        </p:nvSpPr>
        <p:spPr>
          <a:xfrm>
            <a:off x="304800" y="4267200"/>
            <a:ext cx="8458199" cy="1938992"/>
          </a:xfrm>
          <a:prstGeom prst="rect">
            <a:avLst/>
          </a:prstGeom>
        </p:spPr>
        <p:txBody>
          <a:bodyPr wrap="square">
            <a:spAutoFit/>
          </a:bodyPr>
          <a:lstStyle/>
          <a:p>
            <a:pPr algn="just"/>
            <a:r>
              <a:rPr lang="en-US" sz="2000" dirty="0" smtClean="0"/>
              <a:t>Dipole-dipole forces are attractive forces between the positive end of one polar molecule and the negative end of another polar molecule. Dipole-dipole forces have strengths that range from </a:t>
            </a:r>
            <a:r>
              <a:rPr lang="en-US" sz="2000" dirty="0" smtClean="0">
                <a:solidFill>
                  <a:srgbClr val="FF0000"/>
                </a:solidFill>
              </a:rPr>
              <a:t>5 kJ to 20 kJ</a:t>
            </a:r>
            <a:r>
              <a:rPr lang="en-US" sz="2000" dirty="0" smtClean="0"/>
              <a:t> per mole. They are much </a:t>
            </a:r>
            <a:r>
              <a:rPr lang="en-US" sz="2000" dirty="0" smtClean="0">
                <a:solidFill>
                  <a:srgbClr val="FF0000"/>
                </a:solidFill>
              </a:rPr>
              <a:t>weaker than ionic or covalent bonds </a:t>
            </a:r>
            <a:r>
              <a:rPr lang="en-US" sz="2000" dirty="0" smtClean="0"/>
              <a:t>and have a significant effect only when the molecules involved are close together (touching or almost touching).</a:t>
            </a:r>
            <a:endParaRPr lang="en-US" sz="2000" dirty="0"/>
          </a:p>
        </p:txBody>
      </p:sp>
      <p:sp>
        <p:nvSpPr>
          <p:cNvPr id="6" name="Rectangle 5"/>
          <p:cNvSpPr/>
          <p:nvPr/>
        </p:nvSpPr>
        <p:spPr>
          <a:xfrm>
            <a:off x="212596" y="6250126"/>
            <a:ext cx="1455848" cy="369332"/>
          </a:xfrm>
          <a:prstGeom prst="rect">
            <a:avLst/>
          </a:prstGeom>
        </p:spPr>
        <p:txBody>
          <a:bodyPr wrap="none">
            <a:spAutoFit/>
          </a:bodyPr>
          <a:lstStyle/>
          <a:p>
            <a:r>
              <a:rPr lang="en-US" dirty="0"/>
              <a:t>🔹 </a:t>
            </a:r>
            <a:r>
              <a:rPr lang="en-US" b="1" dirty="0"/>
              <a:t>Example:</a:t>
            </a:r>
            <a:endParaRPr lang="en-US" dirty="0"/>
          </a:p>
        </p:txBody>
      </p:sp>
      <p:sp>
        <p:nvSpPr>
          <p:cNvPr id="7" name="Rectangle 6"/>
          <p:cNvSpPr/>
          <p:nvPr/>
        </p:nvSpPr>
        <p:spPr>
          <a:xfrm>
            <a:off x="1668444" y="6250126"/>
            <a:ext cx="2829621" cy="369332"/>
          </a:xfrm>
          <a:prstGeom prst="rect">
            <a:avLst/>
          </a:prstGeom>
        </p:spPr>
        <p:txBody>
          <a:bodyPr wrap="none">
            <a:spAutoFit/>
          </a:bodyPr>
          <a:lstStyle/>
          <a:p>
            <a:r>
              <a:rPr lang="en-US" dirty="0"/>
              <a:t>Hydrogen chloride (</a:t>
            </a:r>
            <a:r>
              <a:rPr lang="en-US" dirty="0" err="1"/>
              <a:t>HCl</a:t>
            </a:r>
            <a:r>
              <a:rPr lang="en-US" dirty="0" smtClean="0"/>
              <a:t>),</a:t>
            </a:r>
            <a:endParaRPr lang="en-US" dirty="0"/>
          </a:p>
        </p:txBody>
      </p:sp>
      <p:sp>
        <p:nvSpPr>
          <p:cNvPr id="8" name="Rectangle 7"/>
          <p:cNvSpPr/>
          <p:nvPr/>
        </p:nvSpPr>
        <p:spPr>
          <a:xfrm>
            <a:off x="4498065" y="6250126"/>
            <a:ext cx="2844048" cy="369332"/>
          </a:xfrm>
          <a:prstGeom prst="rect">
            <a:avLst/>
          </a:prstGeom>
        </p:spPr>
        <p:txBody>
          <a:bodyPr wrap="none">
            <a:spAutoFit/>
          </a:bodyPr>
          <a:lstStyle/>
          <a:p>
            <a:r>
              <a:rPr lang="en-US" dirty="0"/>
              <a:t>iodine </a:t>
            </a:r>
            <a:r>
              <a:rPr lang="en-US" dirty="0" err="1"/>
              <a:t>monochloride</a:t>
            </a:r>
            <a:r>
              <a:rPr lang="en-US" dirty="0"/>
              <a:t> (</a:t>
            </a:r>
            <a:r>
              <a:rPr lang="en-US" dirty="0" err="1"/>
              <a:t>ICl</a:t>
            </a:r>
            <a:r>
              <a:rPr lang="en-US" dirty="0"/>
              <a:t>)</a:t>
            </a:r>
          </a:p>
        </p:txBody>
      </p:sp>
    </p:spTree>
    <p:extLst>
      <p:ext uri="{BB962C8B-B14F-4D97-AF65-F5344CB8AC3E}">
        <p14:creationId xmlns:p14="http://schemas.microsoft.com/office/powerpoint/2010/main" val="36155560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d29zwu34e1ouns.cloudfront.net/inline-images/aakash_1436985822.png"/>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914401" y="1370322"/>
            <a:ext cx="6095999" cy="4200604"/>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971800" y="4495800"/>
            <a:ext cx="2345514" cy="369332"/>
          </a:xfrm>
          <a:prstGeom prst="rect">
            <a:avLst/>
          </a:prstGeom>
        </p:spPr>
        <p:txBody>
          <a:bodyPr wrap="none">
            <a:spAutoFit/>
          </a:bodyPr>
          <a:lstStyle/>
          <a:p>
            <a:r>
              <a:rPr lang="en-US" b="1" dirty="0">
                <a:solidFill>
                  <a:srgbClr val="92D050"/>
                </a:solidFill>
              </a:rPr>
              <a:t>Dipole-Dipole Force</a:t>
            </a:r>
            <a:endParaRPr lang="en-US" dirty="0"/>
          </a:p>
        </p:txBody>
      </p:sp>
    </p:spTree>
    <p:extLst>
      <p:ext uri="{BB962C8B-B14F-4D97-AF65-F5344CB8AC3E}">
        <p14:creationId xmlns:p14="http://schemas.microsoft.com/office/powerpoint/2010/main" val="993207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1323439"/>
          </a:xfrm>
          <a:prstGeom prst="rect">
            <a:avLst/>
          </a:prstGeom>
        </p:spPr>
        <p:txBody>
          <a:bodyPr wrap="square">
            <a:spAutoFit/>
          </a:bodyPr>
          <a:lstStyle/>
          <a:p>
            <a:r>
              <a:rPr lang="en-US" sz="2000" dirty="0"/>
              <a:t>The figures show two arrangements of polar iodine </a:t>
            </a:r>
            <a:r>
              <a:rPr lang="en-US" sz="2000" dirty="0" err="1"/>
              <a:t>monochloride</a:t>
            </a:r>
            <a:r>
              <a:rPr lang="en-US" sz="2000" dirty="0"/>
              <a:t> (</a:t>
            </a:r>
            <a:r>
              <a:rPr lang="en-US" sz="2000" dirty="0" err="1"/>
              <a:t>ICl</a:t>
            </a:r>
            <a:r>
              <a:rPr lang="en-US" sz="2000" dirty="0"/>
              <a:t>) molecules that give rise to dipole-dipole attractions.</a:t>
            </a:r>
          </a:p>
          <a:p>
            <a:r>
              <a:rPr lang="en-US" sz="2000" dirty="0"/>
              <a:t/>
            </a:r>
            <a:br>
              <a:rPr lang="en-US" sz="2000" dirty="0"/>
            </a:br>
            <a:endParaRPr lang="en-US" sz="2000" dirty="0"/>
          </a:p>
        </p:txBody>
      </p:sp>
      <p:pic>
        <p:nvPicPr>
          <p:cNvPr id="1026" name="Picture 2" descr="Dipole-dipole attractions in IC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219200"/>
            <a:ext cx="6400800" cy="154305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8340" y="3059668"/>
            <a:ext cx="817853" cy="400110"/>
          </a:xfrm>
          <a:prstGeom prst="rect">
            <a:avLst/>
          </a:prstGeom>
        </p:spPr>
        <p:txBody>
          <a:bodyPr wrap="none">
            <a:spAutoFit/>
          </a:bodyPr>
          <a:lstStyle/>
          <a:p>
            <a:r>
              <a:rPr lang="en-US" sz="2000" b="1" dirty="0">
                <a:solidFill>
                  <a:srgbClr val="92D050"/>
                </a:solidFill>
              </a:rPr>
              <a:t>Note:</a:t>
            </a:r>
          </a:p>
        </p:txBody>
      </p:sp>
      <p:sp>
        <p:nvSpPr>
          <p:cNvPr id="4" name="Rectangle 3"/>
          <p:cNvSpPr/>
          <p:nvPr/>
        </p:nvSpPr>
        <p:spPr>
          <a:xfrm>
            <a:off x="762000" y="3416280"/>
            <a:ext cx="7454900" cy="3416320"/>
          </a:xfrm>
          <a:prstGeom prst="rect">
            <a:avLst/>
          </a:prstGeom>
        </p:spPr>
        <p:txBody>
          <a:bodyPr wrap="square">
            <a:spAutoFit/>
          </a:bodyPr>
          <a:lstStyle/>
          <a:p>
            <a:pPr marL="285750" indent="-285750">
              <a:buFont typeface="Arial" pitchFamily="34" charset="0"/>
              <a:buChar char="•"/>
            </a:pPr>
            <a:r>
              <a:rPr lang="en-US" dirty="0"/>
              <a:t>Polar molecules have a partial negative end and a partial positive end</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dirty="0"/>
              <a:t>The partially positive end of a polar molecule is attracted to the partially negative end of another</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dirty="0"/>
              <a:t>In a </a:t>
            </a:r>
            <a:r>
              <a:rPr lang="en-US" dirty="0" err="1"/>
              <a:t>ICl</a:t>
            </a:r>
            <a:r>
              <a:rPr lang="en-US" dirty="0"/>
              <a:t> molecule the more electronegative chlorine atom bears the partial negative charge; the less electronegative iodine atom bears the partial positive charge</a:t>
            </a:r>
            <a:r>
              <a:rPr lang="en-US" dirty="0" smtClean="0"/>
              <a:t>.</a:t>
            </a:r>
          </a:p>
          <a:p>
            <a:pPr marL="285750" indent="-285750">
              <a:buFont typeface="Arial" pitchFamily="34" charset="0"/>
              <a:buChar char="•"/>
            </a:pPr>
            <a:endParaRPr lang="en-US" dirty="0"/>
          </a:p>
          <a:p>
            <a:pPr marL="285750" indent="-285750">
              <a:buFont typeface="Arial" pitchFamily="34" charset="0"/>
              <a:buChar char="•"/>
            </a:pPr>
            <a:r>
              <a:rPr lang="en-US" dirty="0"/>
              <a:t>The partially positive iodine end of one </a:t>
            </a:r>
            <a:r>
              <a:rPr lang="en-US" dirty="0" err="1"/>
              <a:t>ICl</a:t>
            </a:r>
            <a:r>
              <a:rPr lang="en-US" dirty="0"/>
              <a:t> molecule is attracted to the partially negative chlorine end of another </a:t>
            </a:r>
            <a:r>
              <a:rPr lang="en-US" dirty="0" err="1"/>
              <a:t>ICl</a:t>
            </a:r>
            <a:r>
              <a:rPr lang="en-US" dirty="0"/>
              <a:t> molecule.</a:t>
            </a:r>
          </a:p>
        </p:txBody>
      </p:sp>
    </p:spTree>
    <p:extLst>
      <p:ext uri="{BB962C8B-B14F-4D97-AF65-F5344CB8AC3E}">
        <p14:creationId xmlns:p14="http://schemas.microsoft.com/office/powerpoint/2010/main" val="237082907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173" y="304800"/>
            <a:ext cx="4022255" cy="461665"/>
          </a:xfrm>
          <a:prstGeom prst="rect">
            <a:avLst/>
          </a:prstGeom>
        </p:spPr>
        <p:txBody>
          <a:bodyPr wrap="none">
            <a:spAutoFit/>
          </a:bodyPr>
          <a:lstStyle/>
          <a:p>
            <a:r>
              <a:rPr lang="en-US" sz="2400" b="1" dirty="0">
                <a:solidFill>
                  <a:srgbClr val="FF0000"/>
                </a:solidFill>
              </a:rPr>
              <a:t>Ion-Induced Dipole </a:t>
            </a:r>
            <a:r>
              <a:rPr lang="en-US" sz="2400" b="1" dirty="0" smtClean="0">
                <a:solidFill>
                  <a:srgbClr val="FF0000"/>
                </a:solidFill>
              </a:rPr>
              <a:t>Forces:</a:t>
            </a:r>
            <a:endParaRPr lang="en-US" sz="2400" dirty="0">
              <a:solidFill>
                <a:srgbClr val="FF0000"/>
              </a:solidFill>
            </a:endParaRPr>
          </a:p>
        </p:txBody>
      </p:sp>
      <p:sp>
        <p:nvSpPr>
          <p:cNvPr id="3" name="Rectangle 2"/>
          <p:cNvSpPr/>
          <p:nvPr/>
        </p:nvSpPr>
        <p:spPr>
          <a:xfrm>
            <a:off x="292100" y="766465"/>
            <a:ext cx="7620000" cy="1877437"/>
          </a:xfrm>
          <a:prstGeom prst="rect">
            <a:avLst/>
          </a:prstGeom>
        </p:spPr>
        <p:txBody>
          <a:bodyPr wrap="square">
            <a:spAutoFit/>
          </a:bodyPr>
          <a:lstStyle/>
          <a:p>
            <a:pPr algn="just"/>
            <a:r>
              <a:rPr lang="en-US" sz="2000" dirty="0"/>
              <a:t>An ion-induced dipole attraction is a weak attraction that results when the approach of an ion induces a dipole in an atom or in a nonpolar molecule by disturbing the arrangement of electrons in the nonpolar species.</a:t>
            </a:r>
          </a:p>
          <a:p>
            <a:r>
              <a:rPr lang="en-US" dirty="0"/>
              <a:t/>
            </a:r>
            <a:br>
              <a:rPr lang="en-US" dirty="0"/>
            </a:br>
            <a:endParaRPr lang="en-US" dirty="0"/>
          </a:p>
        </p:txBody>
      </p:sp>
      <p:pic>
        <p:nvPicPr>
          <p:cNvPr id="2052" name="Picture 4" descr="Dipole For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209800"/>
            <a:ext cx="6477000"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98177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5381601" cy="400110"/>
          </a:xfrm>
          <a:prstGeom prst="rect">
            <a:avLst/>
          </a:prstGeom>
        </p:spPr>
        <p:txBody>
          <a:bodyPr wrap="none">
            <a:spAutoFit/>
          </a:bodyPr>
          <a:lstStyle/>
          <a:p>
            <a:r>
              <a:rPr lang="en-US" sz="2000" b="1" dirty="0">
                <a:solidFill>
                  <a:srgbClr val="FFFF00"/>
                </a:solidFill>
              </a:rPr>
              <a:t>Dipole-Induced Dipole </a:t>
            </a:r>
            <a:r>
              <a:rPr lang="en-US" sz="2000" b="1" dirty="0" smtClean="0">
                <a:solidFill>
                  <a:srgbClr val="FFFF00"/>
                </a:solidFill>
              </a:rPr>
              <a:t>Forces(Debye force):</a:t>
            </a:r>
            <a:endParaRPr lang="en-US" sz="2000" dirty="0">
              <a:solidFill>
                <a:srgbClr val="FFFF00"/>
              </a:solidFill>
            </a:endParaRPr>
          </a:p>
        </p:txBody>
      </p:sp>
      <p:sp>
        <p:nvSpPr>
          <p:cNvPr id="3" name="Rectangle 2"/>
          <p:cNvSpPr/>
          <p:nvPr/>
        </p:nvSpPr>
        <p:spPr>
          <a:xfrm>
            <a:off x="228600" y="838200"/>
            <a:ext cx="8305800" cy="1015663"/>
          </a:xfrm>
          <a:prstGeom prst="rect">
            <a:avLst/>
          </a:prstGeom>
        </p:spPr>
        <p:txBody>
          <a:bodyPr wrap="square">
            <a:spAutoFit/>
          </a:bodyPr>
          <a:lstStyle/>
          <a:p>
            <a:pPr algn="just"/>
            <a:r>
              <a:rPr lang="en-US" sz="2000" dirty="0"/>
              <a:t>Dipole-induced dipole forces are weak attractive forces that occur between a polar molecule (which has a permanent dipole) and a nonpolar molecule (which has no permanent dipole).</a:t>
            </a:r>
          </a:p>
        </p:txBody>
      </p:sp>
      <p:pic>
        <p:nvPicPr>
          <p:cNvPr id="3074" name="Picture 2" descr="What is an induced dipole? | Homework.Study.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853863"/>
            <a:ext cx="8077200" cy="4699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8619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ntermolecular Bonds - Definition, Types of Intermolecular Bonds, Practice  Problems &amp; FAQs in CHEMISTRY: Definition, Types and Importance | AESL"/>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838200"/>
            <a:ext cx="6019800" cy="44958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819400" y="4648200"/>
            <a:ext cx="3275256" cy="369332"/>
          </a:xfrm>
          <a:prstGeom prst="rect">
            <a:avLst/>
          </a:prstGeom>
        </p:spPr>
        <p:txBody>
          <a:bodyPr wrap="none">
            <a:spAutoFit/>
          </a:bodyPr>
          <a:lstStyle/>
          <a:p>
            <a:r>
              <a:rPr lang="en-US" b="1" dirty="0">
                <a:solidFill>
                  <a:srgbClr val="FFFF00"/>
                </a:solidFill>
              </a:rPr>
              <a:t>Dipole-Induced Dipole Force</a:t>
            </a:r>
            <a:endParaRPr lang="en-US" dirty="0"/>
          </a:p>
        </p:txBody>
      </p:sp>
    </p:spTree>
    <p:extLst>
      <p:ext uri="{BB962C8B-B14F-4D97-AF65-F5344CB8AC3E}">
        <p14:creationId xmlns:p14="http://schemas.microsoft.com/office/powerpoint/2010/main" val="336712179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420" y="304800"/>
            <a:ext cx="3743780" cy="400110"/>
          </a:xfrm>
          <a:prstGeom prst="rect">
            <a:avLst/>
          </a:prstGeom>
        </p:spPr>
        <p:txBody>
          <a:bodyPr wrap="square">
            <a:spAutoFit/>
          </a:bodyPr>
          <a:lstStyle/>
          <a:p>
            <a:r>
              <a:rPr lang="en-US" sz="2000" b="1" dirty="0">
                <a:solidFill>
                  <a:srgbClr val="FFFF00"/>
                </a:solidFill>
              </a:rPr>
              <a:t>London Dispersion </a:t>
            </a:r>
            <a:r>
              <a:rPr lang="en-US" sz="2000" b="1" dirty="0" smtClean="0">
                <a:solidFill>
                  <a:srgbClr val="FFFF00"/>
                </a:solidFill>
              </a:rPr>
              <a:t>Forces:</a:t>
            </a:r>
            <a:endParaRPr lang="en-US" sz="2000" dirty="0">
              <a:solidFill>
                <a:srgbClr val="FFFF00"/>
              </a:solidFill>
            </a:endParaRPr>
          </a:p>
        </p:txBody>
      </p:sp>
      <p:pic>
        <p:nvPicPr>
          <p:cNvPr id="4100" name="Picture 4" descr="https://www.chm.bris.ac.uk/~paulmay/webprojects2003/swinerd/images/london%20animation.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81001" y="914400"/>
            <a:ext cx="4038600" cy="23241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67820" y="3428999"/>
            <a:ext cx="8762999" cy="3170099"/>
          </a:xfrm>
          <a:prstGeom prst="rect">
            <a:avLst/>
          </a:prstGeom>
        </p:spPr>
        <p:txBody>
          <a:bodyPr wrap="square">
            <a:spAutoFit/>
          </a:bodyPr>
          <a:lstStyle/>
          <a:p>
            <a:pPr algn="just"/>
            <a:r>
              <a:rPr lang="en-US" sz="2000" dirty="0"/>
              <a:t>The London dispersion force is the weakest intermolecular force. The London dispersion force is a temporary attractive force that results when the electrons in two adjacent atoms occupy positions that make the atoms form temporary dipoles. This force is sometimes called an </a:t>
            </a:r>
            <a:r>
              <a:rPr lang="en-US" sz="2000" dirty="0">
                <a:solidFill>
                  <a:srgbClr val="FF0000"/>
                </a:solidFill>
              </a:rPr>
              <a:t>induced dipole-induced dipole </a:t>
            </a:r>
            <a:r>
              <a:rPr lang="en-US" sz="2000" dirty="0"/>
              <a:t>attraction. London forces are the attractive forces that cause nonpolar substances to condense to liquids and to freeze into solids when the temperature is lowered sufficiently.</a:t>
            </a:r>
          </a:p>
          <a:p>
            <a:pPr algn="just"/>
            <a:r>
              <a:rPr lang="en-US" sz="2000" dirty="0"/>
              <a:t>Because of the constant motion of the electrons, an atom or molecule can develop a temporary (instantaneous) dipole when its electrons are distributed unsymmetrically about the nucleus</a:t>
            </a:r>
            <a:r>
              <a:rPr lang="en-US" dirty="0"/>
              <a:t>.</a:t>
            </a:r>
          </a:p>
        </p:txBody>
      </p:sp>
      <p:sp>
        <p:nvSpPr>
          <p:cNvPr id="3" name="TextBox 2"/>
          <p:cNvSpPr txBox="1"/>
          <p:nvPr/>
        </p:nvSpPr>
        <p:spPr>
          <a:xfrm>
            <a:off x="5334000" y="2076450"/>
            <a:ext cx="428322" cy="369332"/>
          </a:xfrm>
          <a:prstGeom prst="rect">
            <a:avLst/>
          </a:prstGeom>
          <a:noFill/>
        </p:spPr>
        <p:txBody>
          <a:bodyPr wrap="none" rtlCol="0">
            <a:spAutoFit/>
          </a:bodyPr>
          <a:lstStyle/>
          <a:p>
            <a:r>
              <a:rPr lang="en-US" dirty="0" smtClean="0"/>
              <a:t>F2</a:t>
            </a:r>
            <a:endParaRPr lang="en-US" dirty="0"/>
          </a:p>
        </p:txBody>
      </p:sp>
    </p:spTree>
    <p:extLst>
      <p:ext uri="{BB962C8B-B14F-4D97-AF65-F5344CB8AC3E}">
        <p14:creationId xmlns:p14="http://schemas.microsoft.com/office/powerpoint/2010/main" val="6672634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s://www.chem.purdue.edu/gchelp/liquids/symunsym.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81000"/>
            <a:ext cx="4191000" cy="26384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444500" y="3070226"/>
            <a:ext cx="7239000" cy="1877437"/>
          </a:xfrm>
          <a:prstGeom prst="rect">
            <a:avLst/>
          </a:prstGeom>
        </p:spPr>
        <p:txBody>
          <a:bodyPr wrap="square">
            <a:spAutoFit/>
          </a:bodyPr>
          <a:lstStyle/>
          <a:p>
            <a:pPr algn="just"/>
            <a:r>
              <a:rPr lang="en-US" sz="2000" dirty="0"/>
              <a:t>Because of the constant motion of the electrons, an atom or molecule can develop a temporary (instantaneous) dipole when its electrons are distributed unsymmetrically about the nucleus.</a:t>
            </a:r>
          </a:p>
          <a:p>
            <a:r>
              <a:rPr lang="en-US" dirty="0"/>
              <a:t/>
            </a:r>
            <a:br>
              <a:rPr lang="en-US" dirty="0"/>
            </a:br>
            <a:endParaRPr lang="en-US" dirty="0"/>
          </a:p>
        </p:txBody>
      </p:sp>
      <p:pic>
        <p:nvPicPr>
          <p:cNvPr id="5124" name="Picture 4" descr="https://www.chem.purdue.edu/gchelp/liquids/ununsym.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1009650"/>
            <a:ext cx="4343400" cy="7239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52400" y="4419600"/>
            <a:ext cx="8534400" cy="1877437"/>
          </a:xfrm>
          <a:prstGeom prst="rect">
            <a:avLst/>
          </a:prstGeom>
        </p:spPr>
        <p:txBody>
          <a:bodyPr wrap="square">
            <a:spAutoFit/>
          </a:bodyPr>
          <a:lstStyle/>
          <a:p>
            <a:pPr algn="just"/>
            <a:r>
              <a:rPr lang="en-US" sz="2000" dirty="0"/>
              <a:t>A second atom or molecule, in turn, can be distorted by the appearance of the dipole in the first atom or molecule (because electrons repel one another) which leads to an electrostatic attraction between the two atoms or molecules</a:t>
            </a:r>
            <a:r>
              <a:rPr lang="en-US" dirty="0"/>
              <a:t>.</a:t>
            </a:r>
          </a:p>
          <a:p>
            <a:r>
              <a:rPr lang="en-US" dirty="0"/>
              <a:t/>
            </a:r>
            <a:br>
              <a:rPr lang="en-US" dirty="0"/>
            </a:br>
            <a:endParaRPr lang="en-US" dirty="0"/>
          </a:p>
        </p:txBody>
      </p:sp>
      <p:sp>
        <p:nvSpPr>
          <p:cNvPr id="4" name="Rectangle 3"/>
          <p:cNvSpPr/>
          <p:nvPr/>
        </p:nvSpPr>
        <p:spPr>
          <a:xfrm>
            <a:off x="190500" y="5782965"/>
            <a:ext cx="8394700" cy="707886"/>
          </a:xfrm>
          <a:prstGeom prst="rect">
            <a:avLst/>
          </a:prstGeom>
        </p:spPr>
        <p:txBody>
          <a:bodyPr wrap="square">
            <a:spAutoFit/>
          </a:bodyPr>
          <a:lstStyle/>
          <a:p>
            <a:pPr algn="just"/>
            <a:r>
              <a:rPr lang="en-US" sz="2000" dirty="0"/>
              <a:t>Dispersion forces are present between any two molecules (even polar molecules) when they are almost touching.</a:t>
            </a:r>
            <a:endParaRPr lang="en-US" dirty="0"/>
          </a:p>
        </p:txBody>
      </p:sp>
    </p:spTree>
    <p:extLst>
      <p:ext uri="{BB962C8B-B14F-4D97-AF65-F5344CB8AC3E}">
        <p14:creationId xmlns:p14="http://schemas.microsoft.com/office/powerpoint/2010/main" val="1922719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875622939"/>
              </p:ext>
            </p:extLst>
          </p:nvPr>
        </p:nvGraphicFramePr>
        <p:xfrm>
          <a:off x="152400" y="0"/>
          <a:ext cx="8813798" cy="6804761"/>
        </p:xfrm>
        <a:graphic>
          <a:graphicData uri="http://schemas.openxmlformats.org/drawingml/2006/table">
            <a:tbl>
              <a:tblPr/>
              <a:tblGrid>
                <a:gridCol w="915716"/>
                <a:gridCol w="1316347"/>
                <a:gridCol w="1316347"/>
                <a:gridCol w="1316347"/>
                <a:gridCol w="1316347"/>
                <a:gridCol w="1316347"/>
                <a:gridCol w="1316347"/>
              </a:tblGrid>
              <a:tr h="749864">
                <a:tc>
                  <a:txBody>
                    <a:bodyPr/>
                    <a:lstStyle/>
                    <a:p>
                      <a:r>
                        <a:rPr lang="en-US" sz="1600" b="1" dirty="0"/>
                        <a:t>Force Type</a:t>
                      </a:r>
                      <a:endParaRPr lang="en-US" sz="1600" dirty="0"/>
                    </a:p>
                  </a:txBody>
                  <a:tcPr marL="21515" marR="21515" marT="10758" marB="10758" anchor="ctr">
                    <a:lnL>
                      <a:noFill/>
                    </a:lnL>
                    <a:lnR>
                      <a:noFill/>
                    </a:lnR>
                    <a:lnT>
                      <a:noFill/>
                    </a:lnT>
                    <a:lnB>
                      <a:noFill/>
                    </a:lnB>
                  </a:tcPr>
                </a:tc>
                <a:tc>
                  <a:txBody>
                    <a:bodyPr/>
                    <a:lstStyle/>
                    <a:p>
                      <a:r>
                        <a:rPr lang="en-US" sz="1600" b="1" dirty="0"/>
                        <a:t>Occurs Between</a:t>
                      </a:r>
                      <a:endParaRPr lang="en-US" sz="1600" dirty="0"/>
                    </a:p>
                  </a:txBody>
                  <a:tcPr marL="21515" marR="21515" marT="10758" marB="10758" anchor="ctr">
                    <a:lnL>
                      <a:noFill/>
                    </a:lnL>
                    <a:lnR>
                      <a:noFill/>
                    </a:lnR>
                    <a:lnT>
                      <a:noFill/>
                    </a:lnT>
                    <a:lnB>
                      <a:noFill/>
                    </a:lnB>
                  </a:tcPr>
                </a:tc>
                <a:tc>
                  <a:txBody>
                    <a:bodyPr/>
                    <a:lstStyle/>
                    <a:p>
                      <a:r>
                        <a:rPr lang="en-US" sz="1600" b="1"/>
                        <a:t>Cause</a:t>
                      </a:r>
                      <a:endParaRPr lang="en-US" sz="1600"/>
                    </a:p>
                  </a:txBody>
                  <a:tcPr marL="21515" marR="21515" marT="10758" marB="10758" anchor="ctr">
                    <a:lnL>
                      <a:noFill/>
                    </a:lnL>
                    <a:lnR>
                      <a:noFill/>
                    </a:lnR>
                    <a:lnT>
                      <a:noFill/>
                    </a:lnT>
                    <a:lnB>
                      <a:noFill/>
                    </a:lnB>
                  </a:tcPr>
                </a:tc>
                <a:tc>
                  <a:txBody>
                    <a:bodyPr/>
                    <a:lstStyle/>
                    <a:p>
                      <a:r>
                        <a:rPr lang="en-US" sz="1600" b="1"/>
                        <a:t>Nature of Interaction</a:t>
                      </a:r>
                      <a:endParaRPr lang="en-US" sz="1600"/>
                    </a:p>
                  </a:txBody>
                  <a:tcPr marL="21515" marR="21515" marT="10758" marB="10758" anchor="ctr">
                    <a:lnL>
                      <a:noFill/>
                    </a:lnL>
                    <a:lnR>
                      <a:noFill/>
                    </a:lnR>
                    <a:lnT>
                      <a:noFill/>
                    </a:lnT>
                    <a:lnB>
                      <a:noFill/>
                    </a:lnB>
                  </a:tcPr>
                </a:tc>
                <a:tc>
                  <a:txBody>
                    <a:bodyPr/>
                    <a:lstStyle/>
                    <a:p>
                      <a:r>
                        <a:rPr lang="en-US" sz="1600" b="1"/>
                        <a:t>Relative Strength</a:t>
                      </a:r>
                      <a:endParaRPr lang="en-US" sz="1600"/>
                    </a:p>
                  </a:txBody>
                  <a:tcPr marL="21515" marR="21515" marT="10758" marB="10758" anchor="ctr">
                    <a:lnL>
                      <a:noFill/>
                    </a:lnL>
                    <a:lnR>
                      <a:noFill/>
                    </a:lnR>
                    <a:lnT>
                      <a:noFill/>
                    </a:lnT>
                    <a:lnB>
                      <a:noFill/>
                    </a:lnB>
                  </a:tcPr>
                </a:tc>
                <a:tc>
                  <a:txBody>
                    <a:bodyPr/>
                    <a:lstStyle/>
                    <a:p>
                      <a:r>
                        <a:rPr lang="en-US" sz="1600" b="1"/>
                        <a:t>Factors Affecting Strength</a:t>
                      </a:r>
                      <a:endParaRPr lang="en-US" sz="1600"/>
                    </a:p>
                  </a:txBody>
                  <a:tcPr marL="21515" marR="21515" marT="10758" marB="10758" anchor="ctr">
                    <a:lnL>
                      <a:noFill/>
                    </a:lnL>
                    <a:lnR>
                      <a:noFill/>
                    </a:lnR>
                    <a:lnT>
                      <a:noFill/>
                    </a:lnT>
                    <a:lnB>
                      <a:noFill/>
                    </a:lnB>
                  </a:tcPr>
                </a:tc>
                <a:tc>
                  <a:txBody>
                    <a:bodyPr/>
                    <a:lstStyle/>
                    <a:p>
                      <a:r>
                        <a:rPr lang="en-US" sz="1600" b="1"/>
                        <a:t>Examples</a:t>
                      </a:r>
                      <a:endParaRPr lang="en-US" sz="1600"/>
                    </a:p>
                  </a:txBody>
                  <a:tcPr marL="21515" marR="21515" marT="10758" marB="10758" anchor="ctr">
                    <a:lnL>
                      <a:noFill/>
                    </a:lnL>
                    <a:lnR>
                      <a:noFill/>
                    </a:lnR>
                    <a:lnT>
                      <a:noFill/>
                    </a:lnT>
                    <a:lnB>
                      <a:noFill/>
                    </a:lnB>
                  </a:tcPr>
                </a:tc>
              </a:tr>
              <a:tr h="1478302">
                <a:tc>
                  <a:txBody>
                    <a:bodyPr/>
                    <a:lstStyle/>
                    <a:p>
                      <a:r>
                        <a:rPr lang="en-US" sz="1600" b="1" dirty="0"/>
                        <a:t>Dipole-Dipole Forces</a:t>
                      </a:r>
                      <a:endParaRPr lang="en-US" sz="1600" dirty="0"/>
                    </a:p>
                  </a:txBody>
                  <a:tcPr marL="21515" marR="21515" marT="10758" marB="10758" anchor="ctr">
                    <a:lnL>
                      <a:noFill/>
                    </a:lnL>
                    <a:lnR>
                      <a:noFill/>
                    </a:lnR>
                    <a:lnT>
                      <a:noFill/>
                    </a:lnT>
                    <a:lnB>
                      <a:noFill/>
                    </a:lnB>
                  </a:tcPr>
                </a:tc>
                <a:tc>
                  <a:txBody>
                    <a:bodyPr/>
                    <a:lstStyle/>
                    <a:p>
                      <a:r>
                        <a:rPr lang="en-US" sz="1600" dirty="0"/>
                        <a:t>Two </a:t>
                      </a:r>
                      <a:r>
                        <a:rPr lang="en-US" sz="1600" b="1" dirty="0"/>
                        <a:t>polar molecules</a:t>
                      </a:r>
                      <a:endParaRPr lang="en-US" sz="1600" dirty="0"/>
                    </a:p>
                  </a:txBody>
                  <a:tcPr marL="21515" marR="21515" marT="10758" marB="10758" anchor="ctr">
                    <a:lnL>
                      <a:noFill/>
                    </a:lnL>
                    <a:lnR>
                      <a:noFill/>
                    </a:lnR>
                    <a:lnT>
                      <a:noFill/>
                    </a:lnT>
                    <a:lnB>
                      <a:noFill/>
                    </a:lnB>
                  </a:tcPr>
                </a:tc>
                <a:tc>
                  <a:txBody>
                    <a:bodyPr/>
                    <a:lstStyle/>
                    <a:p>
                      <a:r>
                        <a:rPr lang="fr-FR" sz="1600" dirty="0"/>
                        <a:t>Permanent </a:t>
                      </a:r>
                      <a:r>
                        <a:rPr lang="fr-FR" sz="1600" dirty="0" err="1"/>
                        <a:t>dipoles</a:t>
                      </a:r>
                      <a:r>
                        <a:rPr lang="fr-FR" sz="1600" dirty="0"/>
                        <a:t> </a:t>
                      </a:r>
                      <a:r>
                        <a:rPr lang="fr-FR" sz="1600" dirty="0" err="1"/>
                        <a:t>interact</a:t>
                      </a:r>
                      <a:r>
                        <a:rPr lang="fr-FR" sz="1600" dirty="0"/>
                        <a:t>: partial + </a:t>
                      </a:r>
                      <a:r>
                        <a:rPr lang="fr-FR" sz="1600" dirty="0" err="1"/>
                        <a:t>attracts</a:t>
                      </a:r>
                      <a:r>
                        <a:rPr lang="fr-FR" sz="1600" dirty="0"/>
                        <a:t> partial –</a:t>
                      </a:r>
                    </a:p>
                  </a:txBody>
                  <a:tcPr marL="21515" marR="21515" marT="10758" marB="10758" anchor="ctr">
                    <a:lnL>
                      <a:noFill/>
                    </a:lnL>
                    <a:lnR>
                      <a:noFill/>
                    </a:lnR>
                    <a:lnT>
                      <a:noFill/>
                    </a:lnT>
                    <a:lnB>
                      <a:noFill/>
                    </a:lnB>
                  </a:tcPr>
                </a:tc>
                <a:tc>
                  <a:txBody>
                    <a:bodyPr/>
                    <a:lstStyle/>
                    <a:p>
                      <a:r>
                        <a:rPr lang="en-US" sz="1600" dirty="0"/>
                        <a:t>Electrostatic attraction between δ⁺ and δ⁻ ends</a:t>
                      </a:r>
                    </a:p>
                  </a:txBody>
                  <a:tcPr marL="21515" marR="21515" marT="10758" marB="10758" anchor="ctr">
                    <a:lnL>
                      <a:noFill/>
                    </a:lnL>
                    <a:lnR>
                      <a:noFill/>
                    </a:lnR>
                    <a:lnT>
                      <a:noFill/>
                    </a:lnT>
                    <a:lnB>
                      <a:noFill/>
                    </a:lnB>
                  </a:tcPr>
                </a:tc>
                <a:tc>
                  <a:txBody>
                    <a:bodyPr/>
                    <a:lstStyle/>
                    <a:p>
                      <a:r>
                        <a:rPr lang="en-US" sz="1600" b="1"/>
                        <a:t>Moderate</a:t>
                      </a:r>
                      <a:endParaRPr lang="en-US" sz="1600"/>
                    </a:p>
                  </a:txBody>
                  <a:tcPr marL="21515" marR="21515" marT="10758" marB="10758" anchor="ctr">
                    <a:lnL>
                      <a:noFill/>
                    </a:lnL>
                    <a:lnR>
                      <a:noFill/>
                    </a:lnR>
                    <a:lnT>
                      <a:noFill/>
                    </a:lnT>
                    <a:lnB>
                      <a:noFill/>
                    </a:lnB>
                  </a:tcPr>
                </a:tc>
                <a:tc>
                  <a:txBody>
                    <a:bodyPr/>
                    <a:lstStyle/>
                    <a:p>
                      <a:r>
                        <a:rPr lang="en-US" sz="1600"/>
                        <a:t>Magnitude of dipole moment, orientation, and distance</a:t>
                      </a:r>
                    </a:p>
                  </a:txBody>
                  <a:tcPr marL="21515" marR="21515" marT="10758" marB="10758" anchor="ctr">
                    <a:lnL>
                      <a:noFill/>
                    </a:lnL>
                    <a:lnR>
                      <a:noFill/>
                    </a:lnR>
                    <a:lnT>
                      <a:noFill/>
                    </a:lnT>
                    <a:lnB>
                      <a:noFill/>
                    </a:lnB>
                  </a:tcPr>
                </a:tc>
                <a:tc>
                  <a:txBody>
                    <a:bodyPr/>
                    <a:lstStyle/>
                    <a:p>
                      <a:r>
                        <a:rPr lang="en-US" sz="1600"/>
                        <a:t>HCl ⋯ HCl, CH₃Cl ⋯ CH₃Cl</a:t>
                      </a:r>
                    </a:p>
                  </a:txBody>
                  <a:tcPr marL="21515" marR="21515" marT="10758" marB="10758" anchor="ctr">
                    <a:lnL>
                      <a:noFill/>
                    </a:lnL>
                    <a:lnR>
                      <a:noFill/>
                    </a:lnR>
                    <a:lnT>
                      <a:noFill/>
                    </a:lnT>
                    <a:lnB>
                      <a:noFill/>
                    </a:lnB>
                  </a:tcPr>
                </a:tc>
              </a:tr>
              <a:tr h="1478302">
                <a:tc>
                  <a:txBody>
                    <a:bodyPr/>
                    <a:lstStyle/>
                    <a:p>
                      <a:r>
                        <a:rPr lang="en-US" sz="1600" b="1" dirty="0"/>
                        <a:t>Ion-Induced Dipole</a:t>
                      </a:r>
                      <a:endParaRPr lang="en-US" sz="1600" dirty="0"/>
                    </a:p>
                  </a:txBody>
                  <a:tcPr marL="21515" marR="21515" marT="10758" marB="10758" anchor="ctr">
                    <a:lnL>
                      <a:noFill/>
                    </a:lnL>
                    <a:lnR>
                      <a:noFill/>
                    </a:lnR>
                    <a:lnT>
                      <a:noFill/>
                    </a:lnT>
                    <a:lnB>
                      <a:noFill/>
                    </a:lnB>
                  </a:tcPr>
                </a:tc>
                <a:tc>
                  <a:txBody>
                    <a:bodyPr/>
                    <a:lstStyle/>
                    <a:p>
                      <a:r>
                        <a:rPr lang="en-US" sz="1600"/>
                        <a:t>An </a:t>
                      </a:r>
                      <a:r>
                        <a:rPr lang="en-US" sz="1600" b="1"/>
                        <a:t>ion</a:t>
                      </a:r>
                      <a:r>
                        <a:rPr lang="en-US" sz="1600"/>
                        <a:t> and a </a:t>
                      </a:r>
                      <a:r>
                        <a:rPr lang="en-US" sz="1600" b="1"/>
                        <a:t>nonpolar molecule</a:t>
                      </a:r>
                      <a:endParaRPr lang="en-US" sz="1600"/>
                    </a:p>
                  </a:txBody>
                  <a:tcPr marL="21515" marR="21515" marT="10758" marB="10758" anchor="ctr">
                    <a:lnL>
                      <a:noFill/>
                    </a:lnL>
                    <a:lnR>
                      <a:noFill/>
                    </a:lnR>
                    <a:lnT>
                      <a:noFill/>
                    </a:lnT>
                    <a:lnB>
                      <a:noFill/>
                    </a:lnB>
                  </a:tcPr>
                </a:tc>
                <a:tc>
                  <a:txBody>
                    <a:bodyPr/>
                    <a:lstStyle/>
                    <a:p>
                      <a:r>
                        <a:rPr lang="en-US" sz="1600" dirty="0"/>
                        <a:t>The ion distorts the electron cloud of the nonpolar molecule</a:t>
                      </a:r>
                    </a:p>
                  </a:txBody>
                  <a:tcPr marL="21515" marR="21515" marT="10758" marB="10758" anchor="ctr">
                    <a:lnL>
                      <a:noFill/>
                    </a:lnL>
                    <a:lnR>
                      <a:noFill/>
                    </a:lnR>
                    <a:lnT>
                      <a:noFill/>
                    </a:lnT>
                    <a:lnB>
                      <a:noFill/>
                    </a:lnB>
                  </a:tcPr>
                </a:tc>
                <a:tc>
                  <a:txBody>
                    <a:bodyPr/>
                    <a:lstStyle/>
                    <a:p>
                      <a:r>
                        <a:rPr lang="en-US" sz="1600" dirty="0"/>
                        <a:t>Temporary dipole induced by nearby ion</a:t>
                      </a:r>
                    </a:p>
                  </a:txBody>
                  <a:tcPr marL="21515" marR="21515" marT="10758" marB="10758" anchor="ctr">
                    <a:lnL>
                      <a:noFill/>
                    </a:lnL>
                    <a:lnR>
                      <a:noFill/>
                    </a:lnR>
                    <a:lnT>
                      <a:noFill/>
                    </a:lnT>
                    <a:lnB>
                      <a:noFill/>
                    </a:lnB>
                  </a:tcPr>
                </a:tc>
                <a:tc>
                  <a:txBody>
                    <a:bodyPr/>
                    <a:lstStyle/>
                    <a:p>
                      <a:r>
                        <a:rPr lang="en-US" sz="1600" b="1" dirty="0"/>
                        <a:t>Weak to Moderate</a:t>
                      </a:r>
                      <a:endParaRPr lang="en-US" sz="1600" dirty="0"/>
                    </a:p>
                  </a:txBody>
                  <a:tcPr marL="21515" marR="21515" marT="10758" marB="10758" anchor="ctr">
                    <a:lnL>
                      <a:noFill/>
                    </a:lnL>
                    <a:lnR>
                      <a:noFill/>
                    </a:lnR>
                    <a:lnT>
                      <a:noFill/>
                    </a:lnT>
                    <a:lnB>
                      <a:noFill/>
                    </a:lnB>
                  </a:tcPr>
                </a:tc>
                <a:tc>
                  <a:txBody>
                    <a:bodyPr/>
                    <a:lstStyle/>
                    <a:p>
                      <a:r>
                        <a:rPr lang="en-US" sz="1600" dirty="0"/>
                        <a:t>Charge and size of ion, </a:t>
                      </a:r>
                      <a:r>
                        <a:rPr lang="en-US" sz="1600" dirty="0" err="1"/>
                        <a:t>polarizability</a:t>
                      </a:r>
                      <a:r>
                        <a:rPr lang="en-US" sz="1600" dirty="0"/>
                        <a:t> of the molecule</a:t>
                      </a:r>
                    </a:p>
                  </a:txBody>
                  <a:tcPr marL="21515" marR="21515" marT="10758" marB="10758" anchor="ctr">
                    <a:lnL>
                      <a:noFill/>
                    </a:lnL>
                    <a:lnR>
                      <a:noFill/>
                    </a:lnR>
                    <a:lnT>
                      <a:noFill/>
                    </a:lnT>
                    <a:lnB>
                      <a:noFill/>
                    </a:lnB>
                  </a:tcPr>
                </a:tc>
                <a:tc>
                  <a:txBody>
                    <a:bodyPr/>
                    <a:lstStyle/>
                    <a:p>
                      <a:r>
                        <a:rPr lang="en-US" sz="1600"/>
                        <a:t>Na⁺ ⋯ O₂, Fe²⁺ ⋯ I₂</a:t>
                      </a:r>
                    </a:p>
                  </a:txBody>
                  <a:tcPr marL="21515" marR="21515" marT="10758" marB="10758" anchor="ctr">
                    <a:lnL>
                      <a:noFill/>
                    </a:lnL>
                    <a:lnR>
                      <a:noFill/>
                    </a:lnR>
                    <a:lnT>
                      <a:noFill/>
                    </a:lnT>
                    <a:lnB>
                      <a:noFill/>
                    </a:lnB>
                  </a:tcPr>
                </a:tc>
              </a:tr>
              <a:tr h="1721115">
                <a:tc>
                  <a:txBody>
                    <a:bodyPr/>
                    <a:lstStyle/>
                    <a:p>
                      <a:r>
                        <a:rPr lang="en-US" sz="1600" b="1"/>
                        <a:t>Dipole-Induced Dipole</a:t>
                      </a:r>
                      <a:endParaRPr lang="en-US" sz="1600"/>
                    </a:p>
                  </a:txBody>
                  <a:tcPr marL="21515" marR="21515" marT="10758" marB="10758" anchor="ctr">
                    <a:lnL>
                      <a:noFill/>
                    </a:lnL>
                    <a:lnR>
                      <a:noFill/>
                    </a:lnR>
                    <a:lnT>
                      <a:noFill/>
                    </a:lnT>
                    <a:lnB>
                      <a:noFill/>
                    </a:lnB>
                  </a:tcPr>
                </a:tc>
                <a:tc>
                  <a:txBody>
                    <a:bodyPr/>
                    <a:lstStyle/>
                    <a:p>
                      <a:r>
                        <a:rPr lang="en-US" sz="1600" dirty="0"/>
                        <a:t>A </a:t>
                      </a:r>
                      <a:r>
                        <a:rPr lang="en-US" sz="1600" b="1" dirty="0"/>
                        <a:t>polar molecule</a:t>
                      </a:r>
                      <a:r>
                        <a:rPr lang="en-US" sz="1600" dirty="0"/>
                        <a:t> and a </a:t>
                      </a:r>
                      <a:r>
                        <a:rPr lang="en-US" sz="1600" b="1" dirty="0"/>
                        <a:t>nonpolar molecule</a:t>
                      </a:r>
                      <a:endParaRPr lang="en-US" sz="1600" dirty="0"/>
                    </a:p>
                  </a:txBody>
                  <a:tcPr marL="21515" marR="21515" marT="10758" marB="10758" anchor="ctr">
                    <a:lnL>
                      <a:noFill/>
                    </a:lnL>
                    <a:lnR>
                      <a:noFill/>
                    </a:lnR>
                    <a:lnT>
                      <a:noFill/>
                    </a:lnT>
                    <a:lnB>
                      <a:noFill/>
                    </a:lnB>
                  </a:tcPr>
                </a:tc>
                <a:tc>
                  <a:txBody>
                    <a:bodyPr/>
                    <a:lstStyle/>
                    <a:p>
                      <a:r>
                        <a:rPr lang="en-US" sz="1600"/>
                        <a:t>The polar molecule induces a dipole in the nonpolar molecule</a:t>
                      </a:r>
                    </a:p>
                  </a:txBody>
                  <a:tcPr marL="21515" marR="21515" marT="10758" marB="10758" anchor="ctr">
                    <a:lnL>
                      <a:noFill/>
                    </a:lnL>
                    <a:lnR>
                      <a:noFill/>
                    </a:lnR>
                    <a:lnT>
                      <a:noFill/>
                    </a:lnT>
                    <a:lnB>
                      <a:noFill/>
                    </a:lnB>
                  </a:tcPr>
                </a:tc>
                <a:tc>
                  <a:txBody>
                    <a:bodyPr/>
                    <a:lstStyle/>
                    <a:p>
                      <a:r>
                        <a:rPr lang="en-US" sz="1600" dirty="0"/>
                        <a:t>Temporary attraction due to induced dipole</a:t>
                      </a:r>
                    </a:p>
                  </a:txBody>
                  <a:tcPr marL="21515" marR="21515" marT="10758" marB="10758" anchor="ctr">
                    <a:lnL>
                      <a:noFill/>
                    </a:lnL>
                    <a:lnR>
                      <a:noFill/>
                    </a:lnR>
                    <a:lnT>
                      <a:noFill/>
                    </a:lnT>
                    <a:lnB>
                      <a:noFill/>
                    </a:lnB>
                  </a:tcPr>
                </a:tc>
                <a:tc>
                  <a:txBody>
                    <a:bodyPr/>
                    <a:lstStyle/>
                    <a:p>
                      <a:r>
                        <a:rPr lang="en-US" sz="1600" b="1" dirty="0"/>
                        <a:t>Weak</a:t>
                      </a:r>
                      <a:endParaRPr lang="en-US" sz="1600" dirty="0"/>
                    </a:p>
                  </a:txBody>
                  <a:tcPr marL="21515" marR="21515" marT="10758" marB="10758" anchor="ctr">
                    <a:lnL>
                      <a:noFill/>
                    </a:lnL>
                    <a:lnR>
                      <a:noFill/>
                    </a:lnR>
                    <a:lnT>
                      <a:noFill/>
                    </a:lnT>
                    <a:lnB>
                      <a:noFill/>
                    </a:lnB>
                  </a:tcPr>
                </a:tc>
                <a:tc>
                  <a:txBody>
                    <a:bodyPr/>
                    <a:lstStyle/>
                    <a:p>
                      <a:r>
                        <a:rPr lang="en-US" sz="1600" dirty="0"/>
                        <a:t>Dipole strength of polar molecule, </a:t>
                      </a:r>
                      <a:r>
                        <a:rPr lang="en-US" sz="1600" dirty="0" err="1"/>
                        <a:t>polarizability</a:t>
                      </a:r>
                      <a:r>
                        <a:rPr lang="en-US" sz="1600" dirty="0"/>
                        <a:t> of nonpolar molecule</a:t>
                      </a:r>
                    </a:p>
                  </a:txBody>
                  <a:tcPr marL="21515" marR="21515" marT="10758" marB="10758" anchor="ctr">
                    <a:lnL>
                      <a:noFill/>
                    </a:lnL>
                    <a:lnR>
                      <a:noFill/>
                    </a:lnR>
                    <a:lnT>
                      <a:noFill/>
                    </a:lnT>
                    <a:lnB>
                      <a:noFill/>
                    </a:lnB>
                  </a:tcPr>
                </a:tc>
                <a:tc>
                  <a:txBody>
                    <a:bodyPr/>
                    <a:lstStyle/>
                    <a:p>
                      <a:r>
                        <a:rPr lang="pt-BR" sz="1600" dirty="0"/>
                        <a:t>H₂O ⋯ O₂, HCl ⋯ Ar</a:t>
                      </a:r>
                    </a:p>
                  </a:txBody>
                  <a:tcPr marL="21515" marR="21515" marT="10758" marB="10758" anchor="ctr">
                    <a:lnL>
                      <a:noFill/>
                    </a:lnL>
                    <a:lnR>
                      <a:noFill/>
                    </a:lnR>
                    <a:lnT>
                      <a:noFill/>
                    </a:lnT>
                    <a:lnB>
                      <a:noFill/>
                    </a:lnB>
                  </a:tcPr>
                </a:tc>
              </a:tr>
              <a:tr h="1354217">
                <a:tc>
                  <a:txBody>
                    <a:bodyPr/>
                    <a:lstStyle/>
                    <a:p>
                      <a:r>
                        <a:rPr lang="en-US" sz="1600" b="1"/>
                        <a:t>London (Dispersion) Forces</a:t>
                      </a:r>
                      <a:endParaRPr lang="en-US" sz="1600"/>
                    </a:p>
                  </a:txBody>
                  <a:tcPr marL="21515" marR="21515" marT="10758" marB="10758" anchor="ctr">
                    <a:lnL>
                      <a:noFill/>
                    </a:lnL>
                    <a:lnR>
                      <a:noFill/>
                    </a:lnR>
                    <a:lnT>
                      <a:noFill/>
                    </a:lnT>
                    <a:lnB>
                      <a:noFill/>
                    </a:lnB>
                  </a:tcPr>
                </a:tc>
                <a:tc>
                  <a:txBody>
                    <a:bodyPr/>
                    <a:lstStyle/>
                    <a:p>
                      <a:r>
                        <a:rPr lang="en-US" sz="1600"/>
                        <a:t>Between </a:t>
                      </a:r>
                      <a:r>
                        <a:rPr lang="en-US" sz="1600" b="1"/>
                        <a:t>all atoms/molecules</a:t>
                      </a:r>
                      <a:r>
                        <a:rPr lang="en-US" sz="1600"/>
                        <a:t> (strong in nonpolar)</a:t>
                      </a:r>
                    </a:p>
                  </a:txBody>
                  <a:tcPr marL="21515" marR="21515" marT="10758" marB="10758" anchor="ctr">
                    <a:lnL>
                      <a:noFill/>
                    </a:lnL>
                    <a:lnR>
                      <a:noFill/>
                    </a:lnR>
                    <a:lnT>
                      <a:noFill/>
                    </a:lnT>
                    <a:lnB>
                      <a:noFill/>
                    </a:lnB>
                  </a:tcPr>
                </a:tc>
                <a:tc>
                  <a:txBody>
                    <a:bodyPr/>
                    <a:lstStyle/>
                    <a:p>
                      <a:r>
                        <a:rPr lang="en-US" sz="1600"/>
                        <a:t>Instantaneous dipoles due to random electron movement</a:t>
                      </a:r>
                    </a:p>
                  </a:txBody>
                  <a:tcPr marL="21515" marR="21515" marT="10758" marB="10758" anchor="ctr">
                    <a:lnL>
                      <a:noFill/>
                    </a:lnL>
                    <a:lnR>
                      <a:noFill/>
                    </a:lnR>
                    <a:lnT>
                      <a:noFill/>
                    </a:lnT>
                    <a:lnB>
                      <a:noFill/>
                    </a:lnB>
                  </a:tcPr>
                </a:tc>
                <a:tc>
                  <a:txBody>
                    <a:bodyPr/>
                    <a:lstStyle/>
                    <a:p>
                      <a:r>
                        <a:rPr lang="en-US" sz="1600" dirty="0"/>
                        <a:t>Temporary dipole–induced dipole attractions</a:t>
                      </a:r>
                    </a:p>
                  </a:txBody>
                  <a:tcPr marL="21515" marR="21515" marT="10758" marB="10758" anchor="ctr">
                    <a:lnL>
                      <a:noFill/>
                    </a:lnL>
                    <a:lnR>
                      <a:noFill/>
                    </a:lnR>
                    <a:lnT>
                      <a:noFill/>
                    </a:lnT>
                    <a:lnB>
                      <a:noFill/>
                    </a:lnB>
                  </a:tcPr>
                </a:tc>
                <a:tc>
                  <a:txBody>
                    <a:bodyPr/>
                    <a:lstStyle/>
                    <a:p>
                      <a:r>
                        <a:rPr lang="en-US" sz="1600" b="1"/>
                        <a:t>Weakest (but ↑ in large atoms)</a:t>
                      </a:r>
                      <a:endParaRPr lang="en-US" sz="1600"/>
                    </a:p>
                  </a:txBody>
                  <a:tcPr marL="21515" marR="21515" marT="10758" marB="10758" anchor="ctr">
                    <a:lnL>
                      <a:noFill/>
                    </a:lnL>
                    <a:lnR>
                      <a:noFill/>
                    </a:lnR>
                    <a:lnT>
                      <a:noFill/>
                    </a:lnT>
                    <a:lnB>
                      <a:noFill/>
                    </a:lnB>
                  </a:tcPr>
                </a:tc>
                <a:tc>
                  <a:txBody>
                    <a:bodyPr/>
                    <a:lstStyle/>
                    <a:p>
                      <a:r>
                        <a:rPr lang="en-US" sz="1600" dirty="0"/>
                        <a:t>Molecular size, shape, and number of electrons</a:t>
                      </a:r>
                    </a:p>
                  </a:txBody>
                  <a:tcPr marL="21515" marR="21515" marT="10758" marB="10758" anchor="ctr">
                    <a:lnL>
                      <a:noFill/>
                    </a:lnL>
                    <a:lnR>
                      <a:noFill/>
                    </a:lnR>
                    <a:lnT>
                      <a:noFill/>
                    </a:lnT>
                    <a:lnB>
                      <a:noFill/>
                    </a:lnB>
                  </a:tcPr>
                </a:tc>
                <a:tc>
                  <a:txBody>
                    <a:bodyPr/>
                    <a:lstStyle/>
                    <a:p>
                      <a:r>
                        <a:rPr lang="en-US" sz="1600" dirty="0"/>
                        <a:t>He ⋯ He, CH₄ ⋯ CH₄, I₂ ⋯ I₂</a:t>
                      </a:r>
                    </a:p>
                  </a:txBody>
                  <a:tcPr marL="21515" marR="21515" marT="10758" marB="10758" anchor="ctr">
                    <a:lnL>
                      <a:noFill/>
                    </a:lnL>
                    <a:lnR>
                      <a:noFill/>
                    </a:lnR>
                    <a:lnT>
                      <a:noFill/>
                    </a:lnT>
                    <a:lnB>
                      <a:noFill/>
                    </a:lnB>
                  </a:tcPr>
                </a:tc>
              </a:tr>
            </a:tbl>
          </a:graphicData>
        </a:graphic>
      </p:graphicFrame>
    </p:spTree>
    <p:extLst>
      <p:ext uri="{BB962C8B-B14F-4D97-AF65-F5344CB8AC3E}">
        <p14:creationId xmlns:p14="http://schemas.microsoft.com/office/powerpoint/2010/main" val="85182195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3578993" cy="461665"/>
          </a:xfrm>
          <a:prstGeom prst="rect">
            <a:avLst/>
          </a:prstGeom>
        </p:spPr>
        <p:txBody>
          <a:bodyPr wrap="none">
            <a:spAutoFit/>
          </a:bodyPr>
          <a:lstStyle/>
          <a:p>
            <a:r>
              <a:rPr lang="en-US" sz="2400" b="1" dirty="0">
                <a:solidFill>
                  <a:srgbClr val="FFFF00"/>
                </a:solidFill>
              </a:rPr>
              <a:t>Van der Waals </a:t>
            </a:r>
            <a:r>
              <a:rPr lang="en-US" sz="2400" b="1" dirty="0" smtClean="0">
                <a:solidFill>
                  <a:srgbClr val="FFFF00"/>
                </a:solidFill>
              </a:rPr>
              <a:t>equation:</a:t>
            </a:r>
            <a:endParaRPr lang="en-US" sz="2400" dirty="0">
              <a:solidFill>
                <a:srgbClr val="FFFF00"/>
              </a:solidFill>
            </a:endParaRPr>
          </a:p>
        </p:txBody>
      </p:sp>
      <p:sp>
        <p:nvSpPr>
          <p:cNvPr id="3" name="Rectangle 2"/>
          <p:cNvSpPr/>
          <p:nvPr/>
        </p:nvSpPr>
        <p:spPr>
          <a:xfrm>
            <a:off x="173182" y="685800"/>
            <a:ext cx="8056418" cy="400110"/>
          </a:xfrm>
          <a:prstGeom prst="rect">
            <a:avLst/>
          </a:prstGeom>
        </p:spPr>
        <p:txBody>
          <a:bodyPr wrap="square">
            <a:spAutoFit/>
          </a:bodyPr>
          <a:lstStyle/>
          <a:p>
            <a:r>
              <a:rPr lang="en-US" sz="2000" b="1" dirty="0"/>
              <a:t>The kinetic theory of ideal gases assumes the gaseous particles as –</a:t>
            </a:r>
          </a:p>
        </p:txBody>
      </p:sp>
      <p:sp>
        <p:nvSpPr>
          <p:cNvPr id="4" name="Rectangle 3"/>
          <p:cNvSpPr/>
          <p:nvPr/>
        </p:nvSpPr>
        <p:spPr>
          <a:xfrm>
            <a:off x="304800" y="1295400"/>
            <a:ext cx="4572000" cy="1015663"/>
          </a:xfrm>
          <a:prstGeom prst="rect">
            <a:avLst/>
          </a:prstGeom>
        </p:spPr>
        <p:txBody>
          <a:bodyPr>
            <a:spAutoFit/>
          </a:bodyPr>
          <a:lstStyle/>
          <a:p>
            <a:pPr marL="285750" indent="-285750">
              <a:buFont typeface="Arial" pitchFamily="34" charset="0"/>
              <a:buChar char="•"/>
            </a:pPr>
            <a:r>
              <a:rPr lang="en-US" sz="2000" dirty="0"/>
              <a:t>Point masses without any volume</a:t>
            </a:r>
          </a:p>
          <a:p>
            <a:pPr marL="285750" indent="-285750">
              <a:buFont typeface="Arial" pitchFamily="34" charset="0"/>
              <a:buChar char="•"/>
            </a:pPr>
            <a:r>
              <a:rPr lang="en-US" sz="2000" dirty="0"/>
              <a:t>Independent having no interactions</a:t>
            </a:r>
          </a:p>
          <a:p>
            <a:pPr marL="285750" indent="-285750">
              <a:buFont typeface="Arial" pitchFamily="34" charset="0"/>
              <a:buChar char="•"/>
            </a:pPr>
            <a:r>
              <a:rPr lang="en-US" sz="2000" dirty="0"/>
              <a:t>Undergo perfectly elastic collisions</a:t>
            </a:r>
          </a:p>
        </p:txBody>
      </p:sp>
      <p:sp>
        <p:nvSpPr>
          <p:cNvPr id="5" name="Rectangle 4"/>
          <p:cNvSpPr/>
          <p:nvPr/>
        </p:nvSpPr>
        <p:spPr>
          <a:xfrm>
            <a:off x="152400" y="2461921"/>
            <a:ext cx="7620000" cy="400110"/>
          </a:xfrm>
          <a:prstGeom prst="rect">
            <a:avLst/>
          </a:prstGeom>
        </p:spPr>
        <p:txBody>
          <a:bodyPr wrap="square">
            <a:spAutoFit/>
          </a:bodyPr>
          <a:lstStyle/>
          <a:p>
            <a:r>
              <a:rPr lang="en-US" sz="2000" b="1" dirty="0"/>
              <a:t>In practice, Van der Waals assumed that gaseous particles –</a:t>
            </a:r>
          </a:p>
        </p:txBody>
      </p:sp>
      <p:sp>
        <p:nvSpPr>
          <p:cNvPr id="6" name="Rectangle 5"/>
          <p:cNvSpPr/>
          <p:nvPr/>
        </p:nvSpPr>
        <p:spPr>
          <a:xfrm>
            <a:off x="173182" y="3124200"/>
            <a:ext cx="8056418" cy="1631216"/>
          </a:xfrm>
          <a:prstGeom prst="rect">
            <a:avLst/>
          </a:prstGeom>
        </p:spPr>
        <p:txBody>
          <a:bodyPr wrap="square">
            <a:spAutoFit/>
          </a:bodyPr>
          <a:lstStyle/>
          <a:p>
            <a:pPr marL="342900" indent="-342900">
              <a:buFont typeface="Arial" pitchFamily="34" charset="0"/>
              <a:buChar char="•"/>
            </a:pPr>
            <a:r>
              <a:rPr lang="en-US" sz="2000" dirty="0"/>
              <a:t>Are hard spheres.</a:t>
            </a:r>
          </a:p>
          <a:p>
            <a:pPr marL="342900" indent="-342900">
              <a:buFont typeface="Arial" pitchFamily="34" charset="0"/>
              <a:buChar char="•"/>
            </a:pPr>
            <a:r>
              <a:rPr lang="en-US" sz="2000" dirty="0"/>
              <a:t>Have definite volume, and hence cannot be compressed beyond a limit.</a:t>
            </a:r>
          </a:p>
          <a:p>
            <a:pPr marL="342900" indent="-342900">
              <a:buFont typeface="Arial" pitchFamily="34" charset="0"/>
              <a:buChar char="•"/>
            </a:pPr>
            <a:r>
              <a:rPr lang="en-US" sz="2000" dirty="0"/>
              <a:t>Two particles at close range interact and have an exclusive spherical volume around them.</a:t>
            </a:r>
          </a:p>
        </p:txBody>
      </p:sp>
      <p:sp>
        <p:nvSpPr>
          <p:cNvPr id="7" name="Rectangle 6"/>
          <p:cNvSpPr/>
          <p:nvPr/>
        </p:nvSpPr>
        <p:spPr>
          <a:xfrm>
            <a:off x="304800" y="4876800"/>
            <a:ext cx="8305800" cy="1323439"/>
          </a:xfrm>
          <a:prstGeom prst="rect">
            <a:avLst/>
          </a:prstGeom>
        </p:spPr>
        <p:txBody>
          <a:bodyPr wrap="square">
            <a:spAutoFit/>
          </a:bodyPr>
          <a:lstStyle/>
          <a:p>
            <a:pPr algn="just"/>
            <a:r>
              <a:rPr lang="en-US" sz="2000" dirty="0"/>
              <a:t>More significantly, the Van der Waals equation takes into consideration the molecular size and molecular interaction forces (attractive and repulsive forces). Sometimes, it is also referred to as the Van der Waals equation of state.</a:t>
            </a:r>
          </a:p>
        </p:txBody>
      </p:sp>
    </p:spTree>
    <p:extLst>
      <p:ext uri="{BB962C8B-B14F-4D97-AF65-F5344CB8AC3E}">
        <p14:creationId xmlns:p14="http://schemas.microsoft.com/office/powerpoint/2010/main" val="15436192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228600"/>
            <a:ext cx="8534400" cy="1569660"/>
          </a:xfrm>
          <a:prstGeom prst="rect">
            <a:avLst/>
          </a:prstGeom>
        </p:spPr>
        <p:txBody>
          <a:bodyPr wrap="square">
            <a:spAutoFit/>
          </a:bodyPr>
          <a:lstStyle/>
          <a:p>
            <a:pPr algn="just"/>
            <a:r>
              <a:rPr lang="en-US" sz="2000" dirty="0"/>
              <a:t>The Van der Waals equation is an equation relating the relationship between the pressure, volume, temperature, and amount of real gases. For a real gas containing ‘n’ moles, the equation is written as;</a:t>
            </a:r>
          </a:p>
          <a:p>
            <a:r>
              <a:rPr lang="en-US" dirty="0"/>
              <a:t/>
            </a:r>
            <a:br>
              <a:rPr lang="en-US" dirty="0"/>
            </a:b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00201"/>
            <a:ext cx="58674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81000" y="3445363"/>
            <a:ext cx="8001000" cy="707886"/>
          </a:xfrm>
          <a:prstGeom prst="rect">
            <a:avLst/>
          </a:prstGeom>
        </p:spPr>
        <p:txBody>
          <a:bodyPr wrap="square">
            <a:spAutoFit/>
          </a:bodyPr>
          <a:lstStyle/>
          <a:p>
            <a:pPr algn="just"/>
            <a:r>
              <a:rPr lang="en-US" sz="2000" dirty="0"/>
              <a:t>Where P, V, T, and n are the pressure, volume, temperature and moles of the gas, respectively, and ‘a’ and ‘b’ constants specific to each gas.</a:t>
            </a:r>
          </a:p>
        </p:txBody>
      </p:sp>
    </p:spTree>
    <p:extLst>
      <p:ext uri="{BB962C8B-B14F-4D97-AF65-F5344CB8AC3E}">
        <p14:creationId xmlns:p14="http://schemas.microsoft.com/office/powerpoint/2010/main" val="420082917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Elemental</Template>
  <TotalTime>756</TotalTime>
  <Words>2002</Words>
  <Application>Microsoft Office PowerPoint</Application>
  <PresentationFormat>On-screen Show (4:3)</PresentationFormat>
  <Paragraphs>210</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Elemental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Tawhid</dc:creator>
  <cp:lastModifiedBy>Tawhid</cp:lastModifiedBy>
  <cp:revision>121</cp:revision>
  <dcterms:created xsi:type="dcterms:W3CDTF">2025-07-25T11:12:30Z</dcterms:created>
  <dcterms:modified xsi:type="dcterms:W3CDTF">2025-07-27T02:43:37Z</dcterms:modified>
</cp:coreProperties>
</file>